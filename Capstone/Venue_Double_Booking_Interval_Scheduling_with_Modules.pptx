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640080"/>
            <a:ext cx="10362895" cy="38404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1100" b="1">
                <a:solidFill>
                  <a:srgbClr val="312E81"/>
                </a:solidFill>
                <a:latin typeface="Calibri"/>
              </a:defRPr>
            </a:pPr>
            <a:r>
              <a:t>DEPARTMENT OF COMPUTER SCIENCE AND ENGINEERING | SAVEETHA SCHOOL OF ENGINEERING (SIMATS)</a:t>
            </a:r>
          </a:p>
        </p:txBody>
      </p:sp>
      <p:sp>
        <p:nvSpPr>
          <p:cNvPr id="4" name="TextBox 3"/>
          <p:cNvSpPr txBox="1"/>
          <p:nvPr/>
        </p:nvSpPr>
        <p:spPr>
          <a:xfrm>
            <a:off x="914400" y="1280160"/>
            <a:ext cx="10362895" cy="2103120"/>
          </a:xfrm>
          <a:prstGeom prst="rect">
            <a:avLst/>
          </a:prstGeom>
          <a:noFill/>
        </p:spPr>
        <p:txBody>
          <a:bodyPr wrap="square">
            <a:spAutoFit/>
          </a:bodyPr>
          <a:lstStyle/>
          <a:p>
            <a:pPr algn="ctr">
              <a:spcAft>
                <a:spcPts val="1200"/>
              </a:spcAft>
              <a:defRPr sz="2800" b="1">
                <a:solidFill>
                  <a:srgbClr val="1A365D"/>
                </a:solidFill>
                <a:latin typeface="Calibri"/>
              </a:defRPr>
            </a:pPr>
            <a:r>
              <a:t>EventFlow: Preventing Double-Booking in Campus Venue Scheduling Using the Interval Scheduling Algorithm</a:t>
            </a:r>
          </a:p>
          <a:p>
            <a:pPr algn="ctr">
              <a:defRPr sz="1500" b="1">
                <a:solidFill>
                  <a:srgbClr val="2563EB"/>
                </a:solidFill>
                <a:latin typeface="Calibri"/>
              </a:defRPr>
            </a:pPr>
            <a:r>
              <a:t>A Centralized, Real-Time Campus Event &amp; Session Coordination System</a:t>
            </a:r>
          </a:p>
        </p:txBody>
      </p:sp>
      <p:sp>
        <p:nvSpPr>
          <p:cNvPr id="5" name="Rectangle 4"/>
          <p:cNvSpPr/>
          <p:nvPr/>
        </p:nvSpPr>
        <p:spPr>
          <a:xfrm>
            <a:off x="4114800" y="3474720"/>
            <a:ext cx="3962095"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7280" y="3794760"/>
            <a:ext cx="475488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tIns="228600" rIns="228600" wrap="square"/>
          <a:lstStyle/>
          <a:p>
            <a:pPr algn="ctr">
              <a:spcAft>
                <a:spcPts val="800"/>
              </a:spcAft>
              <a:defRPr sz="1100" b="1">
                <a:solidFill>
                  <a:srgbClr val="1A365D"/>
                </a:solidFill>
                <a:latin typeface="Calibri"/>
              </a:defRPr>
            </a:pPr>
            <a:r>
              <a:t>ACADEMIC &amp; COURSE METADATA</a:t>
            </a:r>
          </a:p>
          <a:p>
            <a:pPr>
              <a:spcAft>
                <a:spcPts val="400"/>
              </a:spcAft>
              <a:defRPr sz="1000">
                <a:latin typeface="Calibri"/>
              </a:defRPr>
            </a:pPr>
            <a:r>
              <a:rPr b="1">
                <a:solidFill>
                  <a:srgbClr val="0F172A"/>
                </a:solidFill>
              </a:rPr>
              <a:t>Course Code &amp; Title: </a:t>
            </a:r>
            <a:r>
              <a:rPr>
                <a:solidFill>
                  <a:srgbClr val="334155"/>
                </a:solidFill>
              </a:rPr>
              <a:t>CSA1021 - Software Engineering</a:t>
            </a:r>
          </a:p>
          <a:p>
            <a:pPr>
              <a:spcAft>
                <a:spcPts val="400"/>
              </a:spcAft>
              <a:defRPr sz="1000">
                <a:latin typeface="Calibri"/>
              </a:defRPr>
            </a:pPr>
            <a:r>
              <a:rPr b="1">
                <a:solidFill>
                  <a:srgbClr val="0F172A"/>
                </a:solidFill>
              </a:rPr>
              <a:t>Curriculum Scope: </a:t>
            </a:r>
            <a:r>
              <a:rPr>
                <a:solidFill>
                  <a:srgbClr val="334155"/>
                </a:solidFill>
              </a:rPr>
              <a:t>Capstone Project Assessment (2026)</a:t>
            </a:r>
          </a:p>
          <a:p>
            <a:pPr>
              <a:spcAft>
                <a:spcPts val="400"/>
              </a:spcAft>
              <a:defRPr sz="1000">
                <a:latin typeface="Calibri"/>
              </a:defRPr>
            </a:pPr>
            <a:r>
              <a:rPr b="1">
                <a:solidFill>
                  <a:srgbClr val="0F172A"/>
                </a:solidFill>
              </a:rPr>
              <a:t>Project Platform: </a:t>
            </a:r>
            <a:r>
              <a:rPr>
                <a:solidFill>
                  <a:srgbClr val="334155"/>
                </a:solidFill>
              </a:rPr>
              <a:t>EventFlow (FastAPI + Supabase / SQLite + React)</a:t>
            </a:r>
          </a:p>
          <a:p>
            <a:pPr>
              <a:spcAft>
                <a:spcPts val="400"/>
              </a:spcAft>
              <a:defRPr sz="1000">
                <a:latin typeface="Calibri"/>
              </a:defRPr>
            </a:pPr>
            <a:r>
              <a:rPr b="1">
                <a:solidFill>
                  <a:srgbClr val="0F172A"/>
                </a:solidFill>
              </a:rPr>
              <a:t>Core Focus Area: </a:t>
            </a:r>
            <a:r>
              <a:rPr>
                <a:solidFill>
                  <a:srgbClr val="334155"/>
                </a:solidFill>
              </a:rPr>
              <a:t>Interval Scheduling &amp; Temporal Concurrency</a:t>
            </a:r>
          </a:p>
        </p:txBody>
      </p:sp>
      <p:sp>
        <p:nvSpPr>
          <p:cNvPr id="7" name="Rounded Rectangle 6"/>
          <p:cNvSpPr/>
          <p:nvPr/>
        </p:nvSpPr>
        <p:spPr>
          <a:xfrm>
            <a:off x="6309360" y="3794760"/>
            <a:ext cx="475488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tIns="228600" rIns="228600" wrap="square"/>
          <a:lstStyle/>
          <a:p>
            <a:pPr algn="ctr">
              <a:spcAft>
                <a:spcPts val="800"/>
              </a:spcAft>
              <a:defRPr sz="1100" b="1">
                <a:solidFill>
                  <a:srgbClr val="1A365D"/>
                </a:solidFill>
                <a:latin typeface="Calibri"/>
              </a:defRPr>
            </a:pPr>
            <a:r>
              <a:t>PROJECT TEAM &amp; AFFILIATION</a:t>
            </a:r>
          </a:p>
          <a:p>
            <a:pPr>
              <a:spcAft>
                <a:spcPts val="400"/>
              </a:spcAft>
              <a:defRPr sz="1000">
                <a:latin typeface="Calibri"/>
              </a:defRPr>
            </a:pPr>
            <a:r>
              <a:rPr b="1">
                <a:solidFill>
                  <a:srgbClr val="0F172A"/>
                </a:solidFill>
              </a:rPr>
              <a:t>Student Lead: </a:t>
            </a:r>
            <a:r>
              <a:rPr>
                <a:solidFill>
                  <a:srgbClr val="334155"/>
                </a:solidFill>
              </a:rPr>
              <a:t>S. Mithun Senthil (Reg. No: 192324056)</a:t>
            </a:r>
          </a:p>
          <a:p>
            <a:pPr>
              <a:spcAft>
                <a:spcPts val="400"/>
              </a:spcAft>
              <a:defRPr sz="1000">
                <a:latin typeface="Calibri"/>
              </a:defRPr>
            </a:pPr>
            <a:r>
              <a:rPr b="1">
                <a:solidFill>
                  <a:srgbClr val="0F172A"/>
                </a:solidFill>
              </a:rPr>
              <a:t>Team Member: </a:t>
            </a:r>
            <a:r>
              <a:rPr>
                <a:solidFill>
                  <a:srgbClr val="334155"/>
                </a:solidFill>
              </a:rPr>
              <a:t>[Teammate Name] (Reg. No: [Teammate Reg No])</a:t>
            </a:r>
          </a:p>
          <a:p>
            <a:pPr>
              <a:spcAft>
                <a:spcPts val="400"/>
              </a:spcAft>
              <a:defRPr sz="1000">
                <a:latin typeface="Calibri"/>
              </a:defRPr>
            </a:pPr>
            <a:r>
              <a:rPr b="1">
                <a:solidFill>
                  <a:srgbClr val="0F172A"/>
                </a:solidFill>
              </a:rPr>
              <a:t>Department: </a:t>
            </a:r>
            <a:r>
              <a:rPr>
                <a:solidFill>
                  <a:srgbClr val="334155"/>
                </a:solidFill>
              </a:rPr>
              <a:t>Computer Science and Engineering</a:t>
            </a:r>
          </a:p>
          <a:p>
            <a:pPr>
              <a:spcAft>
                <a:spcPts val="400"/>
              </a:spcAft>
              <a:defRPr sz="1000">
                <a:latin typeface="Calibri"/>
              </a:defRPr>
            </a:pPr>
            <a:r>
              <a:rPr b="1">
                <a:solidFill>
                  <a:srgbClr val="0F172A"/>
                </a:solidFill>
              </a:rPr>
              <a:t>Institution: </a:t>
            </a:r>
            <a:r>
              <a:rPr>
                <a:solidFill>
                  <a:srgbClr val="334155"/>
                </a:solidFill>
              </a:rPr>
              <a:t>Saveetha School of Engineering, SIMATS</a:t>
            </a:r>
          </a:p>
        </p:txBody>
      </p:sp>
      <p:sp>
        <p:nvSpPr>
          <p:cNvPr id="8" name="TextBox 7"/>
          <p:cNvSpPr txBox="1"/>
          <p:nvPr/>
        </p:nvSpPr>
        <p:spPr>
          <a:xfrm>
            <a:off x="731520" y="6400800"/>
            <a:ext cx="7315200" cy="274320"/>
          </a:xfrm>
          <a:prstGeom prst="rect">
            <a:avLst/>
          </a:prstGeom>
          <a:noFill/>
        </p:spPr>
        <p:txBody>
          <a:bodyPr wrap="square" lIns="0" tIns="0">
            <a:spAutoFit/>
          </a:bodyPr>
          <a:lstStyle/>
          <a:p>
            <a:pPr>
              <a:defRPr sz="900">
                <a:solidFill>
                  <a:srgbClr val="64748B"/>
                </a:solidFill>
                <a:latin typeface="Calibri"/>
              </a:defRPr>
            </a:pPr>
            <a:r>
              <a:t>CSA1021 - Software Engineering | Capstone Project 2026 | Saveetha School of Engineering (SIMATS)</a:t>
            </a:r>
          </a:p>
        </p:txBody>
      </p:sp>
      <p:sp>
        <p:nvSpPr>
          <p:cNvPr id="9" name="TextBox 8"/>
          <p:cNvSpPr txBox="1"/>
          <p:nvPr/>
        </p:nvSpPr>
        <p:spPr>
          <a:xfrm>
            <a:off x="9601200" y="6400800"/>
            <a:ext cx="1828800" cy="274320"/>
          </a:xfrm>
          <a:prstGeom prst="rect">
            <a:avLst/>
          </a:prstGeom>
          <a:noFill/>
        </p:spPr>
        <p:txBody>
          <a:bodyPr wrap="square" rIns="0" tIns="0">
            <a:spAutoFit/>
          </a:bodyPr>
          <a:lstStyle/>
          <a:p>
            <a:pPr algn="r">
              <a:defRPr sz="900">
                <a:solidFill>
                  <a:srgbClr val="64748B"/>
                </a:solidFill>
                <a:latin typeface="Calibri"/>
              </a:defRPr>
            </a:pPr>
            <a:r>
              <a:t>Slide 1 of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411480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ctr">
              <a:defRPr sz="950" b="1">
                <a:solidFill>
                  <a:srgbClr val="312E81"/>
                </a:solidFill>
                <a:latin typeface="Calibri"/>
              </a:defRPr>
            </a:pPr>
            <a:r>
              <a:t>CONTEXT &amp; CAMPUS OPERATIONS</a:t>
            </a:r>
          </a:p>
        </p:txBody>
      </p:sp>
      <p:sp>
        <p:nvSpPr>
          <p:cNvPr id="3" name="TextBox 2"/>
          <p:cNvSpPr txBox="1"/>
          <p:nvPr/>
        </p:nvSpPr>
        <p:spPr>
          <a:xfrm>
            <a:off x="731520" y="777240"/>
            <a:ext cx="10698480" cy="868680"/>
          </a:xfrm>
          <a:prstGeom prst="rect">
            <a:avLst/>
          </a:prstGeom>
          <a:noFill/>
        </p:spPr>
        <p:txBody>
          <a:bodyPr wrap="square" lIns="0" tIns="0" rIns="0" bIns="0">
            <a:spAutoFit/>
          </a:bodyPr>
          <a:lstStyle/>
          <a:p>
            <a:pPr>
              <a:defRPr sz="2200" b="1">
                <a:solidFill>
                  <a:srgbClr val="1A365D"/>
                </a:solidFill>
                <a:latin typeface="Calibri"/>
              </a:defRPr>
            </a:pPr>
            <a:r>
              <a:t>Introduction: Campus Venue Scheduling Dynamics</a:t>
            </a:r>
          </a:p>
          <a:p>
            <a:pPr>
              <a:spcBef>
                <a:spcPts val="300"/>
              </a:spcBef>
              <a:defRPr sz="1200">
                <a:solidFill>
                  <a:srgbClr val="64748B"/>
                </a:solidFill>
                <a:latin typeface="Calibri"/>
              </a:defRPr>
            </a:pPr>
            <a:r>
              <a:t>Operational realities and algorithmic challenges of multi-department university event coordination</a:t>
            </a:r>
          </a:p>
        </p:txBody>
      </p:sp>
      <p:sp>
        <p:nvSpPr>
          <p:cNvPr id="4" name="Rectangle 3"/>
          <p:cNvSpPr/>
          <p:nvPr/>
        </p:nvSpPr>
        <p:spPr>
          <a:xfrm>
            <a:off x="731520" y="169164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7315200" cy="274320"/>
          </a:xfrm>
          <a:prstGeom prst="rect">
            <a:avLst/>
          </a:prstGeom>
          <a:noFill/>
        </p:spPr>
        <p:txBody>
          <a:bodyPr wrap="square" lIns="0" tIns="0">
            <a:spAutoFit/>
          </a:bodyPr>
          <a:lstStyle/>
          <a:p>
            <a:pPr>
              <a:defRPr sz="900">
                <a:solidFill>
                  <a:srgbClr val="64748B"/>
                </a:solidFill>
                <a:latin typeface="Calibri"/>
              </a:defRPr>
            </a:pPr>
            <a:r>
              <a:t>CSA1021 - Software Engineering | Capstone Project 2026 | Saveetha School of Engineering (SIMATS)</a:t>
            </a:r>
          </a:p>
        </p:txBody>
      </p:sp>
      <p:sp>
        <p:nvSpPr>
          <p:cNvPr id="6" name="TextBox 5"/>
          <p:cNvSpPr txBox="1"/>
          <p:nvPr/>
        </p:nvSpPr>
        <p:spPr>
          <a:xfrm>
            <a:off x="9601200" y="6400800"/>
            <a:ext cx="1828800" cy="274320"/>
          </a:xfrm>
          <a:prstGeom prst="rect">
            <a:avLst/>
          </a:prstGeom>
          <a:noFill/>
        </p:spPr>
        <p:txBody>
          <a:bodyPr wrap="square" rIns="0" tIns="0">
            <a:spAutoFit/>
          </a:bodyPr>
          <a:lstStyle/>
          <a:p>
            <a:pPr algn="r">
              <a:defRPr sz="900">
                <a:solidFill>
                  <a:srgbClr val="64748B"/>
                </a:solidFill>
                <a:latin typeface="Calibri"/>
              </a:defRPr>
            </a:pPr>
            <a:r>
              <a:t>Slide 2 of 13</a:t>
            </a:r>
          </a:p>
        </p:txBody>
      </p:sp>
      <p:sp>
        <p:nvSpPr>
          <p:cNvPr id="7" name="Rounded Rectangle 6"/>
          <p:cNvSpPr/>
          <p:nvPr/>
        </p:nvSpPr>
        <p:spPr>
          <a:xfrm>
            <a:off x="731520" y="1874519"/>
            <a:ext cx="3410712"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300" b="1">
                <a:solidFill>
                  <a:srgbClr val="1A365D"/>
                </a:solidFill>
                <a:latin typeface="Calibri"/>
              </a:defRPr>
            </a:pPr>
            <a:r>
              <a:t>1. Dynamic University Ecosystem &amp; Multi-Event Scale</a:t>
            </a:r>
          </a:p>
          <a:p>
            <a:pPr>
              <a:lnSpc>
                <a:spcPct val="125000"/>
              </a:lnSpc>
              <a:defRPr sz="1100">
                <a:solidFill>
                  <a:srgbClr val="334155"/>
                </a:solidFill>
                <a:latin typeface="Calibri"/>
              </a:defRPr>
            </a:pPr>
            <a:r>
              <a:t>Modern academic campuses host dozens of concurrent co-curricular and extracurricular programs each semester—including 36-hour hackathons, technical symposiums, research workshops, guest lectures, cultural galas, and sports tournaments.</a:t>
            </a:r>
            <a:br/>
            <a:br/>
            <a:r>
              <a:t>These events coordinate thousands of students, faculty mentors, and specialized campus venues across distinct academic departments operating autonomously.</a:t>
            </a:r>
          </a:p>
        </p:txBody>
      </p:sp>
      <p:sp>
        <p:nvSpPr>
          <p:cNvPr id="8" name="Rounded Rectangle 7"/>
          <p:cNvSpPr/>
          <p:nvPr/>
        </p:nvSpPr>
        <p:spPr>
          <a:xfrm>
            <a:off x="4389120" y="1874519"/>
            <a:ext cx="3410712"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300" b="1">
                <a:solidFill>
                  <a:srgbClr val="1A365D"/>
                </a:solidFill>
                <a:latin typeface="Calibri"/>
              </a:defRPr>
            </a:pPr>
            <a:r>
              <a:t>2. The Shared Resource &amp; Double-Booking Bottleneck</a:t>
            </a:r>
          </a:p>
          <a:p>
            <a:pPr>
              <a:lnSpc>
                <a:spcPct val="125000"/>
              </a:lnSpc>
              <a:defRPr sz="1100">
                <a:solidFill>
                  <a:srgbClr val="334155"/>
                </a:solidFill>
                <a:latin typeface="Calibri"/>
              </a:defRPr>
            </a:pPr>
            <a:r>
              <a:t>Colleges operate with finite high-demand facilities (Main Auditorium, Tech Seminar Halls, Smart Labs). Organizers frequently request the exact same hall for identical dates and overlapping times—often within seconds of each other during peak festival scheduling.</a:t>
            </a:r>
            <a:br/>
            <a:br/>
            <a:r>
              <a:t>Without a centralized, mathematically verified reservation pipeline, multiple bookings are confirmed for a single venue: the classic double-booking failure.</a:t>
            </a:r>
          </a:p>
        </p:txBody>
      </p:sp>
      <p:sp>
        <p:nvSpPr>
          <p:cNvPr id="9" name="Rounded Rectangle 8"/>
          <p:cNvSpPr/>
          <p:nvPr/>
        </p:nvSpPr>
        <p:spPr>
          <a:xfrm>
            <a:off x="8046720" y="1874519"/>
            <a:ext cx="3410712" cy="42976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300" b="1">
                <a:solidFill>
                  <a:srgbClr val="1A365D"/>
                </a:solidFill>
                <a:latin typeface="Calibri"/>
              </a:defRPr>
            </a:pPr>
            <a:r>
              <a:t>3. Computational Interval Model &amp; EventFlow Integration</a:t>
            </a:r>
          </a:p>
          <a:p>
            <a:pPr>
              <a:lnSpc>
                <a:spcPct val="125000"/>
              </a:lnSpc>
              <a:defRPr sz="1100">
                <a:solidFill>
                  <a:srgbClr val="334155"/>
                </a:solidFill>
                <a:latin typeface="Calibri"/>
              </a:defRPr>
            </a:pPr>
            <a:r>
              <a:t>In computer science, each venue booking is formulated as a discrete continuous time interval [start, end) allocated to a specific physical resource ID.</a:t>
            </a:r>
            <a:br/>
            <a:br/>
            <a:r>
              <a:t>EventFlow solves this structural failure by embedding rigorous interval scheduling directly into a centralized campus event coordination platform, providing conflict-free scheduling alongside digital QR passes and session navigation.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411480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ctr">
              <a:defRPr sz="950" b="1">
                <a:solidFill>
                  <a:srgbClr val="312E81"/>
                </a:solidFill>
                <a:latin typeface="Calibri"/>
              </a:defRPr>
            </a:pPr>
            <a:r>
              <a:t>ALGORITHMIC &amp; SYSTEM GOALS</a:t>
            </a:r>
          </a:p>
        </p:txBody>
      </p:sp>
      <p:sp>
        <p:nvSpPr>
          <p:cNvPr id="3" name="TextBox 2"/>
          <p:cNvSpPr txBox="1"/>
          <p:nvPr/>
        </p:nvSpPr>
        <p:spPr>
          <a:xfrm>
            <a:off x="731520" y="777240"/>
            <a:ext cx="10698480" cy="868680"/>
          </a:xfrm>
          <a:prstGeom prst="rect">
            <a:avLst/>
          </a:prstGeom>
          <a:noFill/>
        </p:spPr>
        <p:txBody>
          <a:bodyPr wrap="square" lIns="0" tIns="0" rIns="0" bIns="0">
            <a:spAutoFit/>
          </a:bodyPr>
          <a:lstStyle/>
          <a:p>
            <a:pPr>
              <a:defRPr sz="2200" b="1">
                <a:solidFill>
                  <a:srgbClr val="1A365D"/>
                </a:solidFill>
                <a:latin typeface="Calibri"/>
              </a:defRPr>
            </a:pPr>
            <a:r>
              <a:t>Project Objectives</a:t>
            </a:r>
          </a:p>
          <a:p>
            <a:pPr>
              <a:spcBef>
                <a:spcPts val="300"/>
              </a:spcBef>
              <a:defRPr sz="1200">
                <a:solidFill>
                  <a:srgbClr val="64748B"/>
                </a:solidFill>
                <a:latin typeface="Calibri"/>
              </a:defRPr>
            </a:pPr>
            <a:r>
              <a:t>Core technical benchmarks and architectural outcomes established for EventFlow</a:t>
            </a:r>
          </a:p>
        </p:txBody>
      </p:sp>
      <p:sp>
        <p:nvSpPr>
          <p:cNvPr id="4" name="Rectangle 3"/>
          <p:cNvSpPr/>
          <p:nvPr/>
        </p:nvSpPr>
        <p:spPr>
          <a:xfrm>
            <a:off x="731520" y="169164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7315200" cy="274320"/>
          </a:xfrm>
          <a:prstGeom prst="rect">
            <a:avLst/>
          </a:prstGeom>
          <a:noFill/>
        </p:spPr>
        <p:txBody>
          <a:bodyPr wrap="square" lIns="0" tIns="0">
            <a:spAutoFit/>
          </a:bodyPr>
          <a:lstStyle/>
          <a:p>
            <a:pPr>
              <a:defRPr sz="900">
                <a:solidFill>
                  <a:srgbClr val="64748B"/>
                </a:solidFill>
                <a:latin typeface="Calibri"/>
              </a:defRPr>
            </a:pPr>
            <a:r>
              <a:t>CSA1021 - Software Engineering | Capstone Project 2026 | Saveetha School of Engineering (SIMATS)</a:t>
            </a:r>
          </a:p>
        </p:txBody>
      </p:sp>
      <p:sp>
        <p:nvSpPr>
          <p:cNvPr id="6" name="TextBox 5"/>
          <p:cNvSpPr txBox="1"/>
          <p:nvPr/>
        </p:nvSpPr>
        <p:spPr>
          <a:xfrm>
            <a:off x="9601200" y="6400800"/>
            <a:ext cx="1828800" cy="274320"/>
          </a:xfrm>
          <a:prstGeom prst="rect">
            <a:avLst/>
          </a:prstGeom>
          <a:noFill/>
        </p:spPr>
        <p:txBody>
          <a:bodyPr wrap="square" rIns="0" tIns="0">
            <a:spAutoFit/>
          </a:bodyPr>
          <a:lstStyle/>
          <a:p>
            <a:pPr algn="r">
              <a:defRPr sz="900">
                <a:solidFill>
                  <a:srgbClr val="64748B"/>
                </a:solidFill>
                <a:latin typeface="Calibri"/>
              </a:defRPr>
            </a:pPr>
            <a:r>
              <a:t>Slide 3 of 13</a:t>
            </a:r>
          </a:p>
        </p:txBody>
      </p:sp>
      <p:sp>
        <p:nvSpPr>
          <p:cNvPr id="7" name="Rounded Rectangle 6"/>
          <p:cNvSpPr/>
          <p:nvPr/>
        </p:nvSpPr>
        <p:spPr>
          <a:xfrm>
            <a:off x="731520" y="1874519"/>
            <a:ext cx="5239512"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rIns="182880"/>
          <a:lstStyle/>
          <a:p>
            <a:pPr algn="ctr">
              <a:spcAft>
                <a:spcPts val="800"/>
              </a:spcAft>
              <a:defRPr sz="1300" b="1">
                <a:solidFill>
                  <a:srgbClr val="1A365D"/>
                </a:solidFill>
                <a:latin typeface="Calibri"/>
              </a:defRPr>
            </a:pPr>
            <a:r>
              <a:t>Objective 1: Strict Temporal Collision Prevention</a:t>
            </a:r>
          </a:p>
          <a:p>
            <a:pPr>
              <a:lnSpc>
                <a:spcPct val="120000"/>
              </a:lnSpc>
              <a:defRPr sz="1050">
                <a:solidFill>
                  <a:srgbClr val="334155"/>
                </a:solidFill>
                <a:latin typeface="Calibri"/>
              </a:defRPr>
            </a:pPr>
            <a:r>
              <a:t>Detect and preemptively block overlapping bookings for the same campus venue before database confirmation. Treat bookings as formal time intervals [start, end) and evaluate intersection logic to eliminate complete, partial, and multi-round clashes.</a:t>
            </a:r>
          </a:p>
        </p:txBody>
      </p:sp>
      <p:sp>
        <p:nvSpPr>
          <p:cNvPr id="8" name="Rectangle 7"/>
          <p:cNvSpPr/>
          <p:nvPr/>
        </p:nvSpPr>
        <p:spPr>
          <a:xfrm>
            <a:off x="731520" y="1874519"/>
            <a:ext cx="109728" cy="2057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874519"/>
            <a:ext cx="5239512"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rIns="182880"/>
          <a:lstStyle/>
          <a:p>
            <a:pPr algn="ctr">
              <a:spcAft>
                <a:spcPts val="800"/>
              </a:spcAft>
              <a:defRPr sz="1300" b="1">
                <a:solidFill>
                  <a:srgbClr val="1A365D"/>
                </a:solidFill>
                <a:latin typeface="Calibri"/>
              </a:defRPr>
            </a:pPr>
            <a:r>
              <a:t>Objective 2: Optimal Venue Throughput via Interval Scheduling</a:t>
            </a:r>
          </a:p>
          <a:p>
            <a:pPr>
              <a:lnSpc>
                <a:spcPct val="120000"/>
              </a:lnSpc>
              <a:defRPr sz="1050">
                <a:solidFill>
                  <a:srgbClr val="334155"/>
                </a:solidFill>
                <a:latin typeface="Calibri"/>
              </a:defRPr>
            </a:pPr>
            <a:r>
              <a:t>Apply the classic greedy Earliest Finish Time (EFT) interval scheduling algorithm for batch or competing reservation windows, accepting the largest possible number of mutually compatible events per campus venue in polynomial time O(M log M).</a:t>
            </a:r>
          </a:p>
        </p:txBody>
      </p:sp>
      <p:sp>
        <p:nvSpPr>
          <p:cNvPr id="10" name="Rectangle 9"/>
          <p:cNvSpPr/>
          <p:nvPr/>
        </p:nvSpPr>
        <p:spPr>
          <a:xfrm>
            <a:off x="6217920" y="1874519"/>
            <a:ext cx="109728" cy="20574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4114800"/>
            <a:ext cx="5239512"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rIns="182880"/>
          <a:lstStyle/>
          <a:p>
            <a:pPr algn="ctr">
              <a:spcAft>
                <a:spcPts val="800"/>
              </a:spcAft>
              <a:defRPr sz="1300" b="1">
                <a:solidFill>
                  <a:srgbClr val="1A365D"/>
                </a:solidFill>
                <a:latin typeface="Calibri"/>
              </a:defRPr>
            </a:pPr>
            <a:r>
              <a:t>Objective 3: Real-Time High-Concurrency Safety</a:t>
            </a:r>
          </a:p>
          <a:p>
            <a:pPr>
              <a:lnSpc>
                <a:spcPct val="120000"/>
              </a:lnSpc>
              <a:defRPr sz="1050">
                <a:solidFill>
                  <a:srgbClr val="334155"/>
                </a:solidFill>
                <a:latin typeface="Calibri"/>
              </a:defRPr>
            </a:pPr>
            <a:r>
              <a:t>Enforce atomic transactional locking and sub-second binary search verification (O(log N)) to guarantee that simultaneous multi-user requests cannot bypass validation or induce Time-of-Check to Time-of-Use (TOCTOU) race condition double-bookings.</a:t>
            </a:r>
          </a:p>
        </p:txBody>
      </p:sp>
      <p:sp>
        <p:nvSpPr>
          <p:cNvPr id="12" name="Rectangle 11"/>
          <p:cNvSpPr/>
          <p:nvPr/>
        </p:nvSpPr>
        <p:spPr>
          <a:xfrm>
            <a:off x="731520" y="4114800"/>
            <a:ext cx="109728" cy="2057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4114800"/>
            <a:ext cx="5239512"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rIns="182880"/>
          <a:lstStyle/>
          <a:p>
            <a:pPr algn="ctr">
              <a:spcAft>
                <a:spcPts val="800"/>
              </a:spcAft>
              <a:defRPr sz="1300" b="1">
                <a:solidFill>
                  <a:srgbClr val="1A365D"/>
                </a:solidFill>
                <a:latin typeface="Calibri"/>
              </a:defRPr>
            </a:pPr>
            <a:r>
              <a:t>Objective 4: Intelligent Rejection Feedback &amp; Alternatives</a:t>
            </a:r>
          </a:p>
          <a:p>
            <a:pPr>
              <a:lnSpc>
                <a:spcPct val="120000"/>
              </a:lnSpc>
              <a:defRPr sz="1050">
                <a:solidFill>
                  <a:srgbClr val="334155"/>
                </a:solidFill>
                <a:latin typeface="Calibri"/>
              </a:defRPr>
            </a:pPr>
            <a:r>
              <a:t>Provide instantaneous, transparent rejection feedback with root-cause conflict metrics. Automatically compute and suggest nearest vacant idle time slots and recommend alternative campus venues possessing equivalent room capacity.</a:t>
            </a:r>
          </a:p>
        </p:txBody>
      </p:sp>
      <p:sp>
        <p:nvSpPr>
          <p:cNvPr id="14" name="Rectangle 13"/>
          <p:cNvSpPr/>
          <p:nvPr/>
        </p:nvSpPr>
        <p:spPr>
          <a:xfrm>
            <a:off x="6217920" y="4114800"/>
            <a:ext cx="109728" cy="2057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411480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ctr">
              <a:defRPr sz="950" b="1">
                <a:solidFill>
                  <a:srgbClr val="312E81"/>
                </a:solidFill>
                <a:latin typeface="Calibri"/>
              </a:defRPr>
            </a:pPr>
            <a:r>
              <a:t>EXECUTIVE SUMMARY</a:t>
            </a:r>
          </a:p>
        </p:txBody>
      </p:sp>
      <p:sp>
        <p:nvSpPr>
          <p:cNvPr id="3" name="TextBox 2"/>
          <p:cNvSpPr txBox="1"/>
          <p:nvPr/>
        </p:nvSpPr>
        <p:spPr>
          <a:xfrm>
            <a:off x="731520" y="777240"/>
            <a:ext cx="10698480" cy="868680"/>
          </a:xfrm>
          <a:prstGeom prst="rect">
            <a:avLst/>
          </a:prstGeom>
          <a:noFill/>
        </p:spPr>
        <p:txBody>
          <a:bodyPr wrap="square" lIns="0" tIns="0" rIns="0" bIns="0">
            <a:spAutoFit/>
          </a:bodyPr>
          <a:lstStyle/>
          <a:p>
            <a:pPr>
              <a:defRPr sz="2200" b="1">
                <a:solidFill>
                  <a:srgbClr val="1A365D"/>
                </a:solidFill>
                <a:latin typeface="Calibri"/>
              </a:defRPr>
            </a:pPr>
            <a:r>
              <a:t>Abstract</a:t>
            </a:r>
          </a:p>
          <a:p>
            <a:pPr>
              <a:spcBef>
                <a:spcPts val="300"/>
              </a:spcBef>
              <a:defRPr sz="1200">
                <a:solidFill>
                  <a:srgbClr val="64748B"/>
                </a:solidFill>
                <a:latin typeface="Calibri"/>
              </a:defRPr>
            </a:pPr>
            <a:r>
              <a:t>Algorithmic framework and concurrency-safe implementation of EventFlow</a:t>
            </a:r>
          </a:p>
        </p:txBody>
      </p:sp>
      <p:sp>
        <p:nvSpPr>
          <p:cNvPr id="4" name="Rectangle 3"/>
          <p:cNvSpPr/>
          <p:nvPr/>
        </p:nvSpPr>
        <p:spPr>
          <a:xfrm>
            <a:off x="731520" y="169164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7315200" cy="274320"/>
          </a:xfrm>
          <a:prstGeom prst="rect">
            <a:avLst/>
          </a:prstGeom>
          <a:noFill/>
        </p:spPr>
        <p:txBody>
          <a:bodyPr wrap="square" lIns="0" tIns="0">
            <a:spAutoFit/>
          </a:bodyPr>
          <a:lstStyle/>
          <a:p>
            <a:pPr>
              <a:defRPr sz="900">
                <a:solidFill>
                  <a:srgbClr val="64748B"/>
                </a:solidFill>
                <a:latin typeface="Calibri"/>
              </a:defRPr>
            </a:pPr>
            <a:r>
              <a:t>CSA1021 - Software Engineering | Capstone Project 2026 | Saveetha School of Engineering (SIMATS)</a:t>
            </a:r>
          </a:p>
        </p:txBody>
      </p:sp>
      <p:sp>
        <p:nvSpPr>
          <p:cNvPr id="6" name="TextBox 5"/>
          <p:cNvSpPr txBox="1"/>
          <p:nvPr/>
        </p:nvSpPr>
        <p:spPr>
          <a:xfrm>
            <a:off x="9601200" y="6400800"/>
            <a:ext cx="1828800" cy="274320"/>
          </a:xfrm>
          <a:prstGeom prst="rect">
            <a:avLst/>
          </a:prstGeom>
          <a:noFill/>
        </p:spPr>
        <p:txBody>
          <a:bodyPr wrap="square" rIns="0" tIns="0">
            <a:spAutoFit/>
          </a:bodyPr>
          <a:lstStyle/>
          <a:p>
            <a:pPr algn="r">
              <a:defRPr sz="900">
                <a:solidFill>
                  <a:srgbClr val="64748B"/>
                </a:solidFill>
                <a:latin typeface="Calibri"/>
              </a:defRPr>
            </a:pPr>
            <a:r>
              <a:t>Slide 4 of 13</a:t>
            </a:r>
          </a:p>
        </p:txBody>
      </p:sp>
      <p:sp>
        <p:nvSpPr>
          <p:cNvPr id="7" name="Rounded Rectangle 6"/>
          <p:cNvSpPr/>
          <p:nvPr/>
        </p:nvSpPr>
        <p:spPr>
          <a:xfrm>
            <a:off x="731520" y="1874519"/>
            <a:ext cx="10725912" cy="19202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lnSpc>
                <a:spcPct val="125000"/>
              </a:lnSpc>
              <a:defRPr sz="1100">
                <a:solidFill>
                  <a:srgbClr val="334155"/>
                </a:solidFill>
                <a:latin typeface="Calibri"/>
              </a:defRPr>
            </a:pPr>
            <a:r>
              <a:t>In centralized campus event management, double-booking represents a critical architectural failure that disrupts schedules, damages administrative credibility, and strands hundreds of participants. Traditional systems rely on manual oversight or coarse date-level validations that fail to capture partial temporal intersections. This project presents a mathematically rigorous, interval scheduling framework integrated into EventFlow—a modern campus event coordination platform.</a:t>
            </a:r>
            <a:br/>
            <a:br/>
            <a:r>
              <a:t>By treating every reservation as a half-open temporal interval [s_i, e_i) bound to a discrete venue resource V_k, the system executes real-time collision detection via binary search neighbor evaluation (O(log N)) and employs greedy Earliest Finish Time (EFT) optimization for competing reservation batches. Built with a FastAPI backend and dual-mode persistence (SQLite WAL / Supabase PostgreSQL), all validations and commits execute inside atomic transactions, eliminating Time-of-Check to Time-of-Use (TOCTOU) race conditions.</a:t>
            </a:r>
          </a:p>
        </p:txBody>
      </p:sp>
      <p:sp>
        <p:nvSpPr>
          <p:cNvPr id="8" name="Rounded Rectangle 7"/>
          <p:cNvSpPr/>
          <p:nvPr/>
        </p:nvSpPr>
        <p:spPr>
          <a:xfrm>
            <a:off x="731520" y="3977639"/>
            <a:ext cx="3410712" cy="21945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600"/>
              </a:spcAft>
              <a:defRPr sz="1200" b="1">
                <a:solidFill>
                  <a:srgbClr val="1A365D"/>
                </a:solidFill>
                <a:latin typeface="Calibri"/>
              </a:defRPr>
            </a:pPr>
            <a:r>
              <a:t>Mathematical Formulation</a:t>
            </a:r>
          </a:p>
          <a:p>
            <a:pPr>
              <a:lnSpc>
                <a:spcPct val="120000"/>
              </a:lnSpc>
              <a:defRPr sz="1000">
                <a:solidFill>
                  <a:srgbClr val="334155"/>
                </a:solidFill>
                <a:latin typeface="Calibri"/>
              </a:defRPr>
            </a:pPr>
            <a:r>
              <a:t>Formal half-open intervals [start, end) model time slots without false boundary conflicts, permitting back-to-back events while strictly blocking overlapping subsets.</a:t>
            </a:r>
          </a:p>
        </p:txBody>
      </p:sp>
      <p:sp>
        <p:nvSpPr>
          <p:cNvPr id="9" name="Rectangle 8"/>
          <p:cNvSpPr/>
          <p:nvPr/>
        </p:nvSpPr>
        <p:spPr>
          <a:xfrm>
            <a:off x="731520" y="3977639"/>
            <a:ext cx="3410712"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89120" y="3977639"/>
            <a:ext cx="3410712" cy="21945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600"/>
              </a:spcAft>
              <a:defRPr sz="1200" b="1">
                <a:solidFill>
                  <a:srgbClr val="1A365D"/>
                </a:solidFill>
                <a:latin typeface="Calibri"/>
              </a:defRPr>
            </a:pPr>
            <a:r>
              <a:t>Concurrency &amp; ACID Integrity</a:t>
            </a:r>
          </a:p>
          <a:p>
            <a:pPr>
              <a:lnSpc>
                <a:spcPct val="120000"/>
              </a:lnSpc>
              <a:defRPr sz="1000">
                <a:solidFill>
                  <a:srgbClr val="334155"/>
                </a:solidFill>
                <a:latin typeface="Calibri"/>
              </a:defRPr>
            </a:pPr>
            <a:r>
              <a:t>Transactional database locks (WAL mode / PostgreSQL ACID) guarantee atomicity, preventing simultaneous multi-user submissions from bypassing availability checks.</a:t>
            </a:r>
          </a:p>
        </p:txBody>
      </p:sp>
      <p:sp>
        <p:nvSpPr>
          <p:cNvPr id="11" name="Rectangle 10"/>
          <p:cNvSpPr/>
          <p:nvPr/>
        </p:nvSpPr>
        <p:spPr>
          <a:xfrm>
            <a:off x="4389120" y="3977639"/>
            <a:ext cx="3410712" cy="73152"/>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6720" y="3977639"/>
            <a:ext cx="3410712" cy="21945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600"/>
              </a:spcAft>
              <a:defRPr sz="1200" b="1">
                <a:solidFill>
                  <a:srgbClr val="1A365D"/>
                </a:solidFill>
                <a:latin typeface="Calibri"/>
              </a:defRPr>
            </a:pPr>
            <a:r>
              <a:t>Platform Verification &amp; Results</a:t>
            </a:r>
          </a:p>
          <a:p>
            <a:pPr>
              <a:lnSpc>
                <a:spcPct val="120000"/>
              </a:lnSpc>
              <a:defRPr sz="1000">
                <a:solidFill>
                  <a:srgbClr val="334155"/>
                </a:solidFill>
                <a:latin typeface="Calibri"/>
              </a:defRPr>
            </a:pPr>
            <a:r>
              <a:t>Achieves guaranteed zero double-bookings, maximal facility throughput, and automated alternative slot suggestions, fully verified across 28 automated Pytest suites.</a:t>
            </a:r>
          </a:p>
        </p:txBody>
      </p:sp>
      <p:sp>
        <p:nvSpPr>
          <p:cNvPr id="13" name="Rectangle 12"/>
          <p:cNvSpPr/>
          <p:nvPr/>
        </p:nvSpPr>
        <p:spPr>
          <a:xfrm>
            <a:off x="8046720" y="3977639"/>
            <a:ext cx="341071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411480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ctr">
              <a:defRPr sz="950" b="1">
                <a:solidFill>
                  <a:srgbClr val="312E81"/>
                </a:solidFill>
                <a:latin typeface="Calibri"/>
              </a:defRPr>
            </a:pPr>
            <a:r>
              <a:t>SYSTEM VULNERABILITIES</a:t>
            </a:r>
          </a:p>
        </p:txBody>
      </p:sp>
      <p:sp>
        <p:nvSpPr>
          <p:cNvPr id="3" name="TextBox 2"/>
          <p:cNvSpPr txBox="1"/>
          <p:nvPr/>
        </p:nvSpPr>
        <p:spPr>
          <a:xfrm>
            <a:off x="731520" y="777240"/>
            <a:ext cx="10698480" cy="868680"/>
          </a:xfrm>
          <a:prstGeom prst="rect">
            <a:avLst/>
          </a:prstGeom>
          <a:noFill/>
        </p:spPr>
        <p:txBody>
          <a:bodyPr wrap="square" lIns="0" tIns="0" rIns="0" bIns="0">
            <a:spAutoFit/>
          </a:bodyPr>
          <a:lstStyle/>
          <a:p>
            <a:pPr>
              <a:defRPr sz="2200" b="1">
                <a:solidFill>
                  <a:srgbClr val="1A365D"/>
                </a:solidFill>
                <a:latin typeface="Calibri"/>
              </a:defRPr>
            </a:pPr>
            <a:r>
              <a:t>Problem Statement: Vulnerabilities in Traditional Scheduling</a:t>
            </a:r>
          </a:p>
          <a:p>
            <a:pPr>
              <a:spcBef>
                <a:spcPts val="300"/>
              </a:spcBef>
              <a:defRPr sz="1200">
                <a:solidFill>
                  <a:srgbClr val="64748B"/>
                </a:solidFill>
                <a:latin typeface="Calibri"/>
              </a:defRPr>
            </a:pPr>
            <a:r>
              <a:t>Why conventional institutional booking workflows fail under concurrent campus event demands</a:t>
            </a:r>
          </a:p>
        </p:txBody>
      </p:sp>
      <p:sp>
        <p:nvSpPr>
          <p:cNvPr id="4" name="Rectangle 3"/>
          <p:cNvSpPr/>
          <p:nvPr/>
        </p:nvSpPr>
        <p:spPr>
          <a:xfrm>
            <a:off x="731520" y="169164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7315200" cy="274320"/>
          </a:xfrm>
          <a:prstGeom prst="rect">
            <a:avLst/>
          </a:prstGeom>
          <a:noFill/>
        </p:spPr>
        <p:txBody>
          <a:bodyPr wrap="square" lIns="0" tIns="0">
            <a:spAutoFit/>
          </a:bodyPr>
          <a:lstStyle/>
          <a:p>
            <a:pPr>
              <a:defRPr sz="900">
                <a:solidFill>
                  <a:srgbClr val="64748B"/>
                </a:solidFill>
                <a:latin typeface="Calibri"/>
              </a:defRPr>
            </a:pPr>
            <a:r>
              <a:t>CSA1021 - Software Engineering | Capstone Project 2026 | Saveetha School of Engineering (SIMATS)</a:t>
            </a:r>
          </a:p>
        </p:txBody>
      </p:sp>
      <p:sp>
        <p:nvSpPr>
          <p:cNvPr id="6" name="TextBox 5"/>
          <p:cNvSpPr txBox="1"/>
          <p:nvPr/>
        </p:nvSpPr>
        <p:spPr>
          <a:xfrm>
            <a:off x="9601200" y="6400800"/>
            <a:ext cx="1828800" cy="274320"/>
          </a:xfrm>
          <a:prstGeom prst="rect">
            <a:avLst/>
          </a:prstGeom>
          <a:noFill/>
        </p:spPr>
        <p:txBody>
          <a:bodyPr wrap="square" rIns="0" tIns="0">
            <a:spAutoFit/>
          </a:bodyPr>
          <a:lstStyle/>
          <a:p>
            <a:pPr algn="r">
              <a:defRPr sz="900">
                <a:solidFill>
                  <a:srgbClr val="64748B"/>
                </a:solidFill>
                <a:latin typeface="Calibri"/>
              </a:defRPr>
            </a:pPr>
            <a:r>
              <a:t>Slide 5 of 13</a:t>
            </a:r>
          </a:p>
        </p:txBody>
      </p:sp>
      <p:sp>
        <p:nvSpPr>
          <p:cNvPr id="7" name="Rounded Rectangle 6"/>
          <p:cNvSpPr/>
          <p:nvPr/>
        </p:nvSpPr>
        <p:spPr>
          <a:xfrm>
            <a:off x="731520" y="1874519"/>
            <a:ext cx="5239512"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rIns="182880"/>
          <a:lstStyle/>
          <a:p>
            <a:pPr algn="ctr">
              <a:spcAft>
                <a:spcPts val="800"/>
              </a:spcAft>
              <a:defRPr sz="1300" b="1">
                <a:solidFill>
                  <a:srgbClr val="0F172A"/>
                </a:solidFill>
                <a:latin typeface="Calibri"/>
              </a:defRPr>
            </a:pPr>
            <a:r>
              <a:t>1. Coarse Granularity &amp; Partial Overlap Blindspots</a:t>
            </a:r>
          </a:p>
          <a:p>
            <a:pPr>
              <a:lnSpc>
                <a:spcPct val="120000"/>
              </a:lnSpc>
              <a:defRPr sz="1050">
                <a:solidFill>
                  <a:srgbClr val="334155"/>
                </a:solidFill>
                <a:latin typeface="Calibri"/>
              </a:defRPr>
            </a:pPr>
            <a:r>
              <a:t>Simple date-only checks (WHERE date = ?) fail to evaluate temporal ranges, missing partial overlaps (e.g., Event A from 10:00–12:30 colliding with Event B from 11:30–14:00) or complete interval envelopment (09:00–17:00 engulfing 13:00–15:00).</a:t>
            </a:r>
          </a:p>
        </p:txBody>
      </p:sp>
      <p:sp>
        <p:nvSpPr>
          <p:cNvPr id="8" name="Rectangle 7"/>
          <p:cNvSpPr/>
          <p:nvPr/>
        </p:nvSpPr>
        <p:spPr>
          <a:xfrm>
            <a:off x="731520" y="1874519"/>
            <a:ext cx="109728" cy="205740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874519"/>
            <a:ext cx="5239512"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rIns="182880"/>
          <a:lstStyle/>
          <a:p>
            <a:pPr algn="ctr">
              <a:spcAft>
                <a:spcPts val="800"/>
              </a:spcAft>
              <a:defRPr sz="1300" b="1">
                <a:solidFill>
                  <a:srgbClr val="0F172A"/>
                </a:solidFill>
                <a:latin typeface="Calibri"/>
              </a:defRPr>
            </a:pPr>
            <a:r>
              <a:t>2. Concurrency Vulnerabilities &amp; TOCTOU Race Conditions</a:t>
            </a:r>
          </a:p>
          <a:p>
            <a:pPr>
              <a:lnSpc>
                <a:spcPct val="120000"/>
              </a:lnSpc>
              <a:defRPr sz="1050">
                <a:solidFill>
                  <a:srgbClr val="334155"/>
                </a:solidFill>
                <a:latin typeface="Calibri"/>
              </a:defRPr>
            </a:pPr>
            <a:r>
              <a:t>When two coordinators request the same venue at 10:00:00 AM, unsynchronized backends execute the read check in parallel. Both threads find the room vacant, both pass validation, and both write INSERT records—guaranteeing an unmitigated double-booking.</a:t>
            </a:r>
          </a:p>
        </p:txBody>
      </p:sp>
      <p:sp>
        <p:nvSpPr>
          <p:cNvPr id="10" name="Rectangle 9"/>
          <p:cNvSpPr/>
          <p:nvPr/>
        </p:nvSpPr>
        <p:spPr>
          <a:xfrm>
            <a:off x="6217920" y="1874519"/>
            <a:ext cx="109728" cy="205740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4114800"/>
            <a:ext cx="5239512"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rIns="182880"/>
          <a:lstStyle/>
          <a:p>
            <a:pPr algn="ctr">
              <a:spcAft>
                <a:spcPts val="800"/>
              </a:spcAft>
              <a:defRPr sz="1300" b="1">
                <a:solidFill>
                  <a:srgbClr val="0F172A"/>
                </a:solidFill>
                <a:latin typeface="Calibri"/>
              </a:defRPr>
            </a:pPr>
            <a:r>
              <a:t>3. Multi-Round / Multi-Session Cascade Clashes</a:t>
            </a:r>
          </a:p>
          <a:p>
            <a:pPr>
              <a:lnSpc>
                <a:spcPct val="120000"/>
              </a:lnSpc>
              <a:defRPr sz="1050">
                <a:solidFill>
                  <a:srgbClr val="334155"/>
                </a:solidFill>
                <a:latin typeface="Calibri"/>
              </a:defRPr>
            </a:pPr>
            <a:r>
              <a:t>Multi-day symposiums and hackathons feature distinct sequential rounds (Screening Quiz, Mentoring, Semifinals, Final Pitching) distributed across diverse campus rooms. A single unhandled collision in Round 2 paralyzes the entire event pipeline.</a:t>
            </a:r>
          </a:p>
        </p:txBody>
      </p:sp>
      <p:sp>
        <p:nvSpPr>
          <p:cNvPr id="12" name="Rectangle 11"/>
          <p:cNvSpPr/>
          <p:nvPr/>
        </p:nvSpPr>
        <p:spPr>
          <a:xfrm>
            <a:off x="731520" y="4114800"/>
            <a:ext cx="109728" cy="205740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4114800"/>
            <a:ext cx="5239512"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rIns="182880"/>
          <a:lstStyle/>
          <a:p>
            <a:pPr algn="ctr">
              <a:spcAft>
                <a:spcPts val="800"/>
              </a:spcAft>
              <a:defRPr sz="1300" b="1">
                <a:solidFill>
                  <a:srgbClr val="0F172A"/>
                </a:solidFill>
                <a:latin typeface="Calibri"/>
              </a:defRPr>
            </a:pPr>
            <a:r>
              <a:t>4. Severe Operational &amp; Reputational Repercussions</a:t>
            </a:r>
          </a:p>
          <a:p>
            <a:pPr>
              <a:lnSpc>
                <a:spcPct val="120000"/>
              </a:lnSpc>
              <a:defRPr sz="1050">
                <a:solidFill>
                  <a:srgbClr val="334155"/>
                </a:solidFill>
                <a:latin typeface="Calibri"/>
              </a:defRPr>
            </a:pPr>
            <a:r>
              <a:t>Double-booked venues force last-minute emergency relocations, delayed hackathon tracks, microphone/AV resource conflicts, and significant loss of administrative trust between student organizers, department heads, and attendees.</a:t>
            </a:r>
          </a:p>
        </p:txBody>
      </p:sp>
      <p:sp>
        <p:nvSpPr>
          <p:cNvPr id="14" name="Rectangle 13"/>
          <p:cNvSpPr/>
          <p:nvPr/>
        </p:nvSpPr>
        <p:spPr>
          <a:xfrm>
            <a:off x="6217920" y="4114800"/>
            <a:ext cx="109728" cy="205740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411480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ctr">
              <a:defRPr sz="950" b="1">
                <a:solidFill>
                  <a:srgbClr val="312E81"/>
                </a:solidFill>
                <a:latin typeface="Calibri"/>
              </a:defRPr>
            </a:pPr>
            <a:r>
              <a:t>STATE OF THE ART (2025-2026)</a:t>
            </a:r>
          </a:p>
        </p:txBody>
      </p:sp>
      <p:sp>
        <p:nvSpPr>
          <p:cNvPr id="3" name="TextBox 2"/>
          <p:cNvSpPr txBox="1"/>
          <p:nvPr/>
        </p:nvSpPr>
        <p:spPr>
          <a:xfrm>
            <a:off x="731520" y="777240"/>
            <a:ext cx="10698480" cy="868680"/>
          </a:xfrm>
          <a:prstGeom prst="rect">
            <a:avLst/>
          </a:prstGeom>
          <a:noFill/>
        </p:spPr>
        <p:txBody>
          <a:bodyPr wrap="square" lIns="0" tIns="0" rIns="0" bIns="0">
            <a:spAutoFit/>
          </a:bodyPr>
          <a:lstStyle/>
          <a:p>
            <a:pPr>
              <a:defRPr sz="2200" b="1">
                <a:solidFill>
                  <a:srgbClr val="1A365D"/>
                </a:solidFill>
                <a:latin typeface="Calibri"/>
              </a:defRPr>
            </a:pPr>
            <a:r>
              <a:t>Literature Survey: Contemporary Scheduling Systems</a:t>
            </a:r>
          </a:p>
          <a:p>
            <a:pPr>
              <a:spcBef>
                <a:spcPts val="300"/>
              </a:spcBef>
              <a:defRPr sz="1200">
                <a:solidFill>
                  <a:srgbClr val="64748B"/>
                </a:solidFill>
                <a:latin typeface="Calibri"/>
              </a:defRPr>
            </a:pPr>
            <a:r>
              <a:t>Comparative analysis of recent peer-reviewed approaches in timetable and venue scheduling</a:t>
            </a:r>
          </a:p>
        </p:txBody>
      </p:sp>
      <p:sp>
        <p:nvSpPr>
          <p:cNvPr id="4" name="Rectangle 3"/>
          <p:cNvSpPr/>
          <p:nvPr/>
        </p:nvSpPr>
        <p:spPr>
          <a:xfrm>
            <a:off x="731520" y="169164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7315200" cy="274320"/>
          </a:xfrm>
          <a:prstGeom prst="rect">
            <a:avLst/>
          </a:prstGeom>
          <a:noFill/>
        </p:spPr>
        <p:txBody>
          <a:bodyPr wrap="square" lIns="0" tIns="0">
            <a:spAutoFit/>
          </a:bodyPr>
          <a:lstStyle/>
          <a:p>
            <a:pPr>
              <a:defRPr sz="900">
                <a:solidFill>
                  <a:srgbClr val="64748B"/>
                </a:solidFill>
                <a:latin typeface="Calibri"/>
              </a:defRPr>
            </a:pPr>
            <a:r>
              <a:t>CSA1021 - Software Engineering | Capstone Project 2026 | Saveetha School of Engineering (SIMATS)</a:t>
            </a:r>
          </a:p>
        </p:txBody>
      </p:sp>
      <p:sp>
        <p:nvSpPr>
          <p:cNvPr id="6" name="TextBox 5"/>
          <p:cNvSpPr txBox="1"/>
          <p:nvPr/>
        </p:nvSpPr>
        <p:spPr>
          <a:xfrm>
            <a:off x="9601200" y="6400800"/>
            <a:ext cx="1828800" cy="274320"/>
          </a:xfrm>
          <a:prstGeom prst="rect">
            <a:avLst/>
          </a:prstGeom>
          <a:noFill/>
        </p:spPr>
        <p:txBody>
          <a:bodyPr wrap="square" rIns="0" tIns="0">
            <a:spAutoFit/>
          </a:bodyPr>
          <a:lstStyle/>
          <a:p>
            <a:pPr algn="r">
              <a:defRPr sz="900">
                <a:solidFill>
                  <a:srgbClr val="64748B"/>
                </a:solidFill>
                <a:latin typeface="Calibri"/>
              </a:defRPr>
            </a:pPr>
            <a:r>
              <a:t>Slide 6 of 13</a:t>
            </a:r>
          </a:p>
        </p:txBody>
      </p:sp>
      <p:graphicFrame>
        <p:nvGraphicFramePr>
          <p:cNvPr id="7" name="Table 6"/>
          <p:cNvGraphicFramePr>
            <a:graphicFrameLocks noGrp="1"/>
          </p:cNvGraphicFramePr>
          <p:nvPr/>
        </p:nvGraphicFramePr>
        <p:xfrm>
          <a:off x="731520" y="1874519"/>
          <a:ext cx="10725912" cy="4297680"/>
        </p:xfrm>
        <a:graphic>
          <a:graphicData uri="http://schemas.openxmlformats.org/drawingml/2006/table">
            <a:tbl>
              <a:tblPr firstRow="1" bandRow="1">
                <a:tableStyleId>{5C22544A-7EE6-4342-B048-85BDC9FD1C3A}</a:tableStyleId>
              </a:tblPr>
              <a:tblGrid>
                <a:gridCol w="2926080"/>
                <a:gridCol w="2286000"/>
                <a:gridCol w="2560320"/>
                <a:gridCol w="2953512"/>
              </a:tblGrid>
              <a:tr h="859536">
                <a:tc>
                  <a:txBody>
                    <a:bodyPr wrap="square" tIns="73152"/>
                    <a:lstStyle/>
                    <a:p>
                      <a:pPr>
                        <a:defRPr sz="1100" b="1">
                          <a:solidFill>
                            <a:srgbClr val="FFFFFF"/>
                          </a:solidFill>
                          <a:latin typeface="Calibri"/>
                        </a:defRPr>
                      </a:pPr>
                      <a:r>
                        <a:t>Paper Title &amp; Source (Year)</a:t>
                      </a:r>
                    </a:p>
                  </a:txBody>
                  <a:tcPr>
                    <a:solidFill>
                      <a:srgbClr val="1A365D"/>
                    </a:solidFill>
                  </a:tcPr>
                </a:tc>
                <a:tc>
                  <a:txBody>
                    <a:bodyPr wrap="square" tIns="73152"/>
                    <a:lstStyle/>
                    <a:p>
                      <a:pPr>
                        <a:defRPr sz="1100" b="1">
                          <a:solidFill>
                            <a:srgbClr val="FFFFFF"/>
                          </a:solidFill>
                          <a:latin typeface="Calibri"/>
                        </a:defRPr>
                      </a:pPr>
                      <a:r>
                        <a:t>Core Methodology</a:t>
                      </a:r>
                    </a:p>
                  </a:txBody>
                  <a:tcPr>
                    <a:solidFill>
                      <a:srgbClr val="1A365D"/>
                    </a:solidFill>
                  </a:tcPr>
                </a:tc>
                <a:tc>
                  <a:txBody>
                    <a:bodyPr wrap="square" tIns="73152"/>
                    <a:lstStyle/>
                    <a:p>
                      <a:pPr>
                        <a:defRPr sz="1100" b="1">
                          <a:solidFill>
                            <a:srgbClr val="FFFFFF"/>
                          </a:solidFill>
                          <a:latin typeface="Calibri"/>
                        </a:defRPr>
                      </a:pPr>
                      <a:r>
                        <a:t>Key Strengths</a:t>
                      </a:r>
                    </a:p>
                  </a:txBody>
                  <a:tcPr>
                    <a:solidFill>
                      <a:srgbClr val="1A365D"/>
                    </a:solidFill>
                  </a:tcPr>
                </a:tc>
                <a:tc>
                  <a:txBody>
                    <a:bodyPr wrap="square" tIns="73152"/>
                    <a:lstStyle/>
                    <a:p>
                      <a:pPr>
                        <a:defRPr sz="1100" b="1">
                          <a:solidFill>
                            <a:srgbClr val="FFFFFF"/>
                          </a:solidFill>
                          <a:latin typeface="Calibri"/>
                        </a:defRPr>
                      </a:pPr>
                      <a:r>
                        <a:t>Inherent Limitations &amp; EventFlow Gap</a:t>
                      </a:r>
                    </a:p>
                  </a:txBody>
                  <a:tcPr>
                    <a:solidFill>
                      <a:srgbClr val="1A365D"/>
                    </a:solidFill>
                  </a:tcPr>
                </a:tc>
              </a:tr>
              <a:tr h="859536">
                <a:tc>
                  <a:txBody>
                    <a:bodyPr wrap="square" tIns="73152" lIns="109728" rIns="109728"/>
                    <a:lstStyle/>
                    <a:p>
                      <a:pPr>
                        <a:defRPr sz="950" b="1">
                          <a:solidFill>
                            <a:srgbClr val="0F172A"/>
                          </a:solidFill>
                          <a:latin typeface="Calibri"/>
                        </a:defRPr>
                      </a:pPr>
                      <a:r>
                        <a:t>A Course Scheduling System Based on an Improved Genetic Algorithm</a:t>
                      </a:r>
                      <a:br/>
                      <a:r>
                        <a:t>(NHSJS Reports, 2025)</a:t>
                      </a:r>
                    </a:p>
                  </a:txBody>
                  <a:tcPr>
                    <a:solidFill>
                      <a:srgbClr val="F8FAFC"/>
                    </a:solidFill>
                  </a:tcPr>
                </a:tc>
                <a:tc>
                  <a:txBody>
                    <a:bodyPr wrap="square" tIns="73152" lIns="109728" rIns="109728"/>
                    <a:lstStyle/>
                    <a:p>
                      <a:pPr>
                        <a:defRPr sz="950">
                          <a:solidFill>
                            <a:srgbClr val="334155"/>
                          </a:solidFill>
                          <a:latin typeface="Calibri"/>
                        </a:defRPr>
                      </a:pPr>
                      <a:r>
                        <a:t>Improved Genetic Algorithm (GA) with adaptive mutation rates and penalty weighting for teacher/room clashes.</a:t>
                      </a:r>
                    </a:p>
                  </a:txBody>
                  <a:tcPr>
                    <a:solidFill>
                      <a:srgbClr val="F8FAFC"/>
                    </a:solidFill>
                  </a:tcPr>
                </a:tc>
                <a:tc>
                  <a:txBody>
                    <a:bodyPr wrap="square" tIns="73152" lIns="109728" rIns="109728"/>
                    <a:lstStyle/>
                    <a:p>
                      <a:pPr>
                        <a:defRPr sz="950">
                          <a:solidFill>
                            <a:srgbClr val="334155"/>
                          </a:solidFill>
                          <a:latin typeface="Calibri"/>
                        </a:defRPr>
                      </a:pPr>
                      <a:r>
                        <a:t>Effectively optimizes complex multi-constraint static academic timetables across departments.</a:t>
                      </a:r>
                    </a:p>
                  </a:txBody>
                  <a:tcPr>
                    <a:solidFill>
                      <a:srgbClr val="F8FAFC"/>
                    </a:solidFill>
                  </a:tcPr>
                </a:tc>
                <a:tc>
                  <a:txBody>
                    <a:bodyPr wrap="square" tIns="73152" lIns="109728" rIns="109728"/>
                    <a:lstStyle/>
                    <a:p>
                      <a:pPr>
                        <a:defRPr sz="950">
                          <a:solidFill>
                            <a:srgbClr val="334155"/>
                          </a:solidFill>
                          <a:latin typeface="Calibri"/>
                        </a:defRPr>
                      </a:pPr>
                      <a:r>
                        <a:t>Tested only on small static batches; heavy O(G · P) computational overhead; non-viable for instantaneous web booking requests.</a:t>
                      </a:r>
                    </a:p>
                  </a:txBody>
                  <a:tcPr>
                    <a:solidFill>
                      <a:srgbClr val="F8FAFC"/>
                    </a:solidFill>
                  </a:tcPr>
                </a:tc>
              </a:tr>
              <a:tr h="859536">
                <a:tc>
                  <a:txBody>
                    <a:bodyPr wrap="square" tIns="73152" lIns="109728" rIns="109728"/>
                    <a:lstStyle/>
                    <a:p>
                      <a:pPr>
                        <a:defRPr sz="950" b="1">
                          <a:solidFill>
                            <a:srgbClr val="0F172A"/>
                          </a:solidFill>
                          <a:latin typeface="Calibri"/>
                        </a:defRPr>
                      </a:pPr>
                      <a:r>
                        <a:t>Automated Class Scheduling: Ensuring Conflict-Free &amp; Optimized Timetables</a:t>
                      </a:r>
                      <a:br/>
                      <a:r>
                        <a:t>(Khulna Univ. Studies, Dec 2025)</a:t>
                      </a:r>
                    </a:p>
                  </a:txBody>
                  <a:tcPr>
                    <a:solidFill>
                      <a:srgbClr val="FFFFFF"/>
                    </a:solidFill>
                  </a:tcPr>
                </a:tc>
                <a:tc>
                  <a:txBody>
                    <a:bodyPr wrap="square" tIns="73152" lIns="109728" rIns="109728"/>
                    <a:lstStyle/>
                    <a:p>
                      <a:pPr>
                        <a:defRPr sz="950">
                          <a:solidFill>
                            <a:srgbClr val="334155"/>
                          </a:solidFill>
                          <a:latin typeface="Calibri"/>
                        </a:defRPr>
                      </a:pPr>
                      <a:r>
                        <a:t>Heuristic-driven automated timetable generator optimizing room and teacher allocations.</a:t>
                      </a:r>
                    </a:p>
                  </a:txBody>
                  <a:tcPr>
                    <a:solidFill>
                      <a:srgbClr val="FFFFFF"/>
                    </a:solidFill>
                  </a:tcPr>
                </a:tc>
                <a:tc>
                  <a:txBody>
                    <a:bodyPr wrap="square" tIns="73152" lIns="109728" rIns="109728"/>
                    <a:lstStyle/>
                    <a:p>
                      <a:pPr>
                        <a:defRPr sz="950">
                          <a:solidFill>
                            <a:srgbClr val="334155"/>
                          </a:solidFill>
                          <a:latin typeface="Calibri"/>
                        </a:defRPr>
                      </a:pPr>
                      <a:r>
                        <a:t>Produces clash-free class routines in pre-planned, fixed semester configurations.</a:t>
                      </a:r>
                    </a:p>
                  </a:txBody>
                  <a:tcPr>
                    <a:solidFill>
                      <a:srgbClr val="FFFFFF"/>
                    </a:solidFill>
                  </a:tcPr>
                </a:tc>
                <a:tc>
                  <a:txBody>
                    <a:bodyPr wrap="square" tIns="73152" lIns="109728" rIns="109728"/>
                    <a:lstStyle/>
                    <a:p>
                      <a:pPr>
                        <a:defRPr sz="950">
                          <a:solidFill>
                            <a:srgbClr val="334155"/>
                          </a:solidFill>
                          <a:latin typeface="Calibri"/>
                        </a:defRPr>
                      </a:pPr>
                      <a:r>
                        <a:t>Assumes static offline constraints; lacks dynamic ad-hoc request handling and concurrent web transaction safety.</a:t>
                      </a:r>
                    </a:p>
                  </a:txBody>
                  <a:tcPr>
                    <a:solidFill>
                      <a:srgbClr val="FFFFFF"/>
                    </a:solidFill>
                  </a:tcPr>
                </a:tc>
              </a:tr>
              <a:tr h="859536">
                <a:tc>
                  <a:txBody>
                    <a:bodyPr wrap="square" tIns="73152" lIns="109728" rIns="109728"/>
                    <a:lstStyle/>
                    <a:p>
                      <a:pPr>
                        <a:defRPr sz="950" b="1">
                          <a:solidFill>
                            <a:srgbClr val="0F172A"/>
                          </a:solidFill>
                          <a:latin typeface="Calibri"/>
                        </a:defRPr>
                      </a:pPr>
                      <a:r>
                        <a:t>Explicit AI-Based Timetable Generator using Genetic Algorithm</a:t>
                      </a:r>
                      <a:br/>
                      <a:r>
                        <a:t>(Open J. of Applied Sciences, 2025)</a:t>
                      </a:r>
                    </a:p>
                  </a:txBody>
                  <a:tcPr>
                    <a:solidFill>
                      <a:srgbClr val="F8FAFC"/>
                    </a:solidFill>
                  </a:tcPr>
                </a:tc>
                <a:tc>
                  <a:txBody>
                    <a:bodyPr wrap="square" tIns="73152" lIns="109728" rIns="109728"/>
                    <a:lstStyle/>
                    <a:p>
                      <a:pPr>
                        <a:defRPr sz="950">
                          <a:solidFill>
                            <a:srgbClr val="334155"/>
                          </a:solidFill>
                          <a:latin typeface="Calibri"/>
                        </a:defRPr>
                      </a:pPr>
                      <a:r>
                        <a:t>AI-assisted Genetic Algorithm optimizing multidimensional lecturer, classroom, and student vectors.</a:t>
                      </a:r>
                    </a:p>
                  </a:txBody>
                  <a:tcPr>
                    <a:solidFill>
                      <a:srgbClr val="F8FAFC"/>
                    </a:solidFill>
                  </a:tcPr>
                </a:tc>
                <a:tc>
                  <a:txBody>
                    <a:bodyPr wrap="square" tIns="73152" lIns="109728" rIns="109728"/>
                    <a:lstStyle/>
                    <a:p>
                      <a:pPr>
                        <a:defRPr sz="950">
                          <a:solidFill>
                            <a:srgbClr val="334155"/>
                          </a:solidFill>
                          <a:latin typeface="Calibri"/>
                        </a:defRPr>
                      </a:pPr>
                      <a:r>
                        <a:t>High flexibility in handling soft/hard educational constraints and room preferences.</a:t>
                      </a:r>
                    </a:p>
                  </a:txBody>
                  <a:tcPr>
                    <a:solidFill>
                      <a:srgbClr val="F8FAFC"/>
                    </a:solidFill>
                  </a:tcPr>
                </a:tc>
                <a:tc>
                  <a:txBody>
                    <a:bodyPr wrap="square" tIns="73152" lIns="109728" rIns="109728"/>
                    <a:lstStyle/>
                    <a:p>
                      <a:pPr>
                        <a:defRPr sz="950">
                          <a:solidFill>
                            <a:srgbClr val="334155"/>
                          </a:solidFill>
                          <a:latin typeface="Calibri"/>
                        </a:defRPr>
                      </a:pPr>
                      <a:r>
                        <a:t>Stochastic and non-deterministic; requires hundreds of generations; latency prevents sub-second user API responses.</a:t>
                      </a:r>
                    </a:p>
                  </a:txBody>
                  <a:tcPr>
                    <a:solidFill>
                      <a:srgbClr val="F8FAFC"/>
                    </a:solidFill>
                  </a:tcPr>
                </a:tc>
              </a:tr>
              <a:tr h="859536">
                <a:tc>
                  <a:txBody>
                    <a:bodyPr wrap="square" tIns="73152" lIns="109728" rIns="109728"/>
                    <a:lstStyle/>
                    <a:p>
                      <a:pPr>
                        <a:defRPr sz="950" b="1">
                          <a:solidFill>
                            <a:srgbClr val="0F172A"/>
                          </a:solidFill>
                          <a:latin typeface="Calibri"/>
                        </a:defRPr>
                      </a:pPr>
                      <a:r>
                        <a:t>Isabela State University Class Scheduling Algorithm (ISUCSA)</a:t>
                      </a:r>
                      <a:br/>
                      <a:r>
                        <a:t>(J. Inf. Systems Eng. &amp; Mgmt, 2025)</a:t>
                      </a:r>
                    </a:p>
                  </a:txBody>
                  <a:tcPr>
                    <a:solidFill>
                      <a:srgbClr val="FFFFFF"/>
                    </a:solidFill>
                  </a:tcPr>
                </a:tc>
                <a:tc>
                  <a:txBody>
                    <a:bodyPr wrap="square" tIns="73152" lIns="109728" rIns="109728"/>
                    <a:lstStyle/>
                    <a:p>
                      <a:pPr>
                        <a:defRPr sz="950">
                          <a:solidFill>
                            <a:srgbClr val="334155"/>
                          </a:solidFill>
                          <a:latin typeface="Calibri"/>
                        </a:defRPr>
                      </a:pPr>
                      <a:r>
                        <a:t>Hybrid evolutionary model combining Genetic Algorithms with a deterministic greedy assignment phase.</a:t>
                      </a:r>
                    </a:p>
                  </a:txBody>
                  <a:tcPr>
                    <a:solidFill>
                      <a:srgbClr val="FFFFFF"/>
                    </a:solidFill>
                  </a:tcPr>
                </a:tc>
                <a:tc>
                  <a:txBody>
                    <a:bodyPr wrap="square" tIns="73152" lIns="109728" rIns="109728"/>
                    <a:lstStyle/>
                    <a:p>
                      <a:pPr>
                        <a:defRPr sz="950">
                          <a:solidFill>
                            <a:srgbClr val="334155"/>
                          </a:solidFill>
                          <a:latin typeface="Calibri"/>
                        </a:defRPr>
                      </a:pPr>
                      <a:r>
                        <a:t>Accelerates convergence compared to pure GA; effectively assigns room capacities.</a:t>
                      </a:r>
                    </a:p>
                  </a:txBody>
                  <a:tcPr>
                    <a:solidFill>
                      <a:srgbClr val="FFFFFF"/>
                    </a:solidFill>
                  </a:tcPr>
                </a:tc>
                <a:tc>
                  <a:txBody>
                    <a:bodyPr wrap="square" tIns="73152" lIns="109728" rIns="109728"/>
                    <a:lstStyle/>
                    <a:p>
                      <a:pPr>
                        <a:defRPr sz="950">
                          <a:solidFill>
                            <a:srgbClr val="334155"/>
                          </a:solidFill>
                          <a:latin typeface="Calibri"/>
                        </a:defRPr>
                      </a:pPr>
                      <a:r>
                        <a:t>Designed strictly for annual curriculum planning; zero provision for real-time web concurrency or atomic interval locking.</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411480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ctr">
              <a:defRPr sz="950" b="1">
                <a:solidFill>
                  <a:srgbClr val="312E81"/>
                </a:solidFill>
                <a:latin typeface="Calibri"/>
              </a:defRPr>
            </a:pPr>
            <a:r>
              <a:t>COMPARATIVE DEFICIENCY ANALYSIS</a:t>
            </a:r>
          </a:p>
        </p:txBody>
      </p:sp>
      <p:sp>
        <p:nvSpPr>
          <p:cNvPr id="3" name="TextBox 2"/>
          <p:cNvSpPr txBox="1"/>
          <p:nvPr/>
        </p:nvSpPr>
        <p:spPr>
          <a:xfrm>
            <a:off x="731520" y="777240"/>
            <a:ext cx="10698480" cy="868680"/>
          </a:xfrm>
          <a:prstGeom prst="rect">
            <a:avLst/>
          </a:prstGeom>
          <a:noFill/>
        </p:spPr>
        <p:txBody>
          <a:bodyPr wrap="square" lIns="0" tIns="0" rIns="0" bIns="0">
            <a:spAutoFit/>
          </a:bodyPr>
          <a:lstStyle/>
          <a:p>
            <a:pPr>
              <a:defRPr sz="2200" b="1">
                <a:solidFill>
                  <a:srgbClr val="1A365D"/>
                </a:solidFill>
                <a:latin typeface="Calibri"/>
              </a:defRPr>
            </a:pPr>
            <a:r>
              <a:t>Existing Methods vs. Algorithmic Bottlenecks</a:t>
            </a:r>
          </a:p>
          <a:p>
            <a:pPr>
              <a:spcBef>
                <a:spcPts val="300"/>
              </a:spcBef>
              <a:defRPr sz="1200">
                <a:solidFill>
                  <a:srgbClr val="64748B"/>
                </a:solidFill>
                <a:latin typeface="Calibri"/>
              </a:defRPr>
            </a:pPr>
            <a:r>
              <a:t>Systematic critique of conventional booking mechanisms and scheduling heuristics</a:t>
            </a:r>
          </a:p>
        </p:txBody>
      </p:sp>
      <p:sp>
        <p:nvSpPr>
          <p:cNvPr id="4" name="Rectangle 3"/>
          <p:cNvSpPr/>
          <p:nvPr/>
        </p:nvSpPr>
        <p:spPr>
          <a:xfrm>
            <a:off x="731520" y="169164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7315200" cy="274320"/>
          </a:xfrm>
          <a:prstGeom prst="rect">
            <a:avLst/>
          </a:prstGeom>
          <a:noFill/>
        </p:spPr>
        <p:txBody>
          <a:bodyPr wrap="square" lIns="0" tIns="0">
            <a:spAutoFit/>
          </a:bodyPr>
          <a:lstStyle/>
          <a:p>
            <a:pPr>
              <a:defRPr sz="900">
                <a:solidFill>
                  <a:srgbClr val="64748B"/>
                </a:solidFill>
                <a:latin typeface="Calibri"/>
              </a:defRPr>
            </a:pPr>
            <a:r>
              <a:t>CSA1021 - Software Engineering | Capstone Project 2026 | Saveetha School of Engineering (SIMATS)</a:t>
            </a:r>
          </a:p>
        </p:txBody>
      </p:sp>
      <p:sp>
        <p:nvSpPr>
          <p:cNvPr id="6" name="TextBox 5"/>
          <p:cNvSpPr txBox="1"/>
          <p:nvPr/>
        </p:nvSpPr>
        <p:spPr>
          <a:xfrm>
            <a:off x="9601200" y="6400800"/>
            <a:ext cx="1828800" cy="274320"/>
          </a:xfrm>
          <a:prstGeom prst="rect">
            <a:avLst/>
          </a:prstGeom>
          <a:noFill/>
        </p:spPr>
        <p:txBody>
          <a:bodyPr wrap="square" rIns="0" tIns="0">
            <a:spAutoFit/>
          </a:bodyPr>
          <a:lstStyle/>
          <a:p>
            <a:pPr algn="r">
              <a:defRPr sz="900">
                <a:solidFill>
                  <a:srgbClr val="64748B"/>
                </a:solidFill>
                <a:latin typeface="Calibri"/>
              </a:defRPr>
            </a:pPr>
            <a:r>
              <a:t>Slide 7 of 13</a:t>
            </a:r>
          </a:p>
        </p:txBody>
      </p:sp>
      <p:sp>
        <p:nvSpPr>
          <p:cNvPr id="7" name="Rounded Rectangle 6"/>
          <p:cNvSpPr/>
          <p:nvPr/>
        </p:nvSpPr>
        <p:spPr>
          <a:xfrm>
            <a:off x="731520" y="1874519"/>
            <a:ext cx="10725912"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73152" rIns="182880"/>
          <a:lstStyle/>
          <a:p>
            <a:pPr algn="ctr">
              <a:spcAft>
                <a:spcPts val="200"/>
              </a:spcAft>
              <a:defRPr sz="1150" b="1">
                <a:solidFill>
                  <a:srgbClr val="1A365D"/>
                </a:solidFill>
                <a:latin typeface="Calibri"/>
              </a:defRPr>
            </a:pPr>
            <a:r>
              <a:t>1. Manual Spreadsheets &amp; Paper Registers</a:t>
            </a:r>
          </a:p>
          <a:p>
            <a:pPr>
              <a:lnSpc>
                <a:spcPct val="115000"/>
              </a:lnSpc>
              <a:defRPr sz="950">
                <a:solidFill>
                  <a:srgbClr val="334155"/>
                </a:solidFill>
                <a:latin typeface="Calibri"/>
              </a:defRPr>
            </a:pPr>
            <a:r>
              <a:t>Institutional Workflow: Coordinators log requests via Google Forms or Excel; staff manually check calendars.</a:t>
            </a:r>
            <a:br/>
            <a:r>
              <a:t>Critical Flaw: Latent conflict discovery—clashes are identified only after both parties receive confirmation. Sluggish and highly error-prone under high event volume.</a:t>
            </a:r>
          </a:p>
        </p:txBody>
      </p:sp>
      <p:sp>
        <p:nvSpPr>
          <p:cNvPr id="8" name="Rectangle 7"/>
          <p:cNvSpPr/>
          <p:nvPr/>
        </p:nvSpPr>
        <p:spPr>
          <a:xfrm>
            <a:off x="731520" y="1874519"/>
            <a:ext cx="91440" cy="804672"/>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2752343"/>
            <a:ext cx="10725912"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73152" rIns="182880"/>
          <a:lstStyle/>
          <a:p>
            <a:pPr algn="ctr">
              <a:spcAft>
                <a:spcPts val="200"/>
              </a:spcAft>
              <a:defRPr sz="1150" b="1">
                <a:solidFill>
                  <a:srgbClr val="1A365D"/>
                </a:solidFill>
                <a:latin typeface="Calibri"/>
              </a:defRPr>
            </a:pPr>
            <a:r>
              <a:t>2. Coarse Date-Level Database Filters</a:t>
            </a:r>
          </a:p>
          <a:p>
            <a:pPr>
              <a:lnSpc>
                <a:spcPct val="115000"/>
              </a:lnSpc>
              <a:defRPr sz="950">
                <a:solidFill>
                  <a:srgbClr val="334155"/>
                </a:solidFill>
                <a:latin typeface="Calibri"/>
              </a:defRPr>
            </a:pPr>
            <a:r>
              <a:t>Institutional Workflow: Basic SQL validation checking WHERE date = ? AND venue = ?.</a:t>
            </a:r>
            <a:br/>
            <a:r>
              <a:t>Critical Flaw: Coarse temporal resolution—blind to hour/minute intervals. Either rejects non-overlapping events occurring on the same date or admits destructive intra-day overlaps.</a:t>
            </a:r>
          </a:p>
        </p:txBody>
      </p:sp>
      <p:sp>
        <p:nvSpPr>
          <p:cNvPr id="10" name="Rectangle 9"/>
          <p:cNvSpPr/>
          <p:nvPr/>
        </p:nvSpPr>
        <p:spPr>
          <a:xfrm>
            <a:off x="731520" y="2752343"/>
            <a:ext cx="91440" cy="804672"/>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3630167"/>
            <a:ext cx="10725912"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73152" rIns="182880"/>
          <a:lstStyle/>
          <a:p>
            <a:pPr algn="ctr">
              <a:spcAft>
                <a:spcPts val="200"/>
              </a:spcAft>
              <a:defRPr sz="1150" b="1">
                <a:solidFill>
                  <a:srgbClr val="1A365D"/>
                </a:solidFill>
                <a:latin typeface="Calibri"/>
              </a:defRPr>
            </a:pPr>
            <a:r>
              <a:t>3. Genetic Algorithms &amp; Heuristics (Literature)</a:t>
            </a:r>
          </a:p>
          <a:p>
            <a:pPr>
              <a:lnSpc>
                <a:spcPct val="115000"/>
              </a:lnSpc>
              <a:defRPr sz="950">
                <a:solidFill>
                  <a:srgbClr val="334155"/>
                </a:solidFill>
                <a:latin typeface="Calibri"/>
              </a:defRPr>
            </a:pPr>
            <a:r>
              <a:t>Institutional Workflow: Iterative multi-generational population optimization (reviewed in Slide 6).</a:t>
            </a:r>
            <a:br/>
            <a:r>
              <a:t>Critical Flaw: Massive computational overhead O(G · P · C) with stochastic latency (seconds to minutes). Unsuitable for interactive, real-time web booking APIs.</a:t>
            </a:r>
          </a:p>
        </p:txBody>
      </p:sp>
      <p:sp>
        <p:nvSpPr>
          <p:cNvPr id="12" name="Rectangle 11"/>
          <p:cNvSpPr/>
          <p:nvPr/>
        </p:nvSpPr>
        <p:spPr>
          <a:xfrm>
            <a:off x="731520" y="3630167"/>
            <a:ext cx="91440" cy="8046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4507991"/>
            <a:ext cx="10725912"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73152" rIns="182880"/>
          <a:lstStyle/>
          <a:p>
            <a:pPr algn="ctr">
              <a:spcAft>
                <a:spcPts val="200"/>
              </a:spcAft>
              <a:defRPr sz="1150" b="1">
                <a:solidFill>
                  <a:srgbClr val="1A365D"/>
                </a:solidFill>
                <a:latin typeface="Calibri"/>
              </a:defRPr>
            </a:pPr>
            <a:r>
              <a:t>4. Unsynchronized 'Check-Then-Save' Architectures</a:t>
            </a:r>
          </a:p>
          <a:p>
            <a:pPr>
              <a:lnSpc>
                <a:spcPct val="115000"/>
              </a:lnSpc>
              <a:defRPr sz="950">
                <a:solidFill>
                  <a:srgbClr val="334155"/>
                </a:solidFill>
                <a:latin typeface="Calibri"/>
              </a:defRPr>
            </a:pPr>
            <a:r>
              <a:t>Institutional Workflow: Standard web endpoints executing SELECT availability followed by separate INSERT.</a:t>
            </a:r>
            <a:br/>
            <a:r>
              <a:t>Critical Flaw: Vulnerable to Time-of-Check to Time-of-Use (TOCTOU) race conditions—simultaneous client requests both evaluate as vacant before either commits.</a:t>
            </a:r>
          </a:p>
        </p:txBody>
      </p:sp>
      <p:sp>
        <p:nvSpPr>
          <p:cNvPr id="14" name="Rectangle 13"/>
          <p:cNvSpPr/>
          <p:nvPr/>
        </p:nvSpPr>
        <p:spPr>
          <a:xfrm>
            <a:off x="731520" y="4507991"/>
            <a:ext cx="91440" cy="804672"/>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1520" y="5385815"/>
            <a:ext cx="10725912" cy="80467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73152" rIns="182880"/>
          <a:lstStyle/>
          <a:p>
            <a:pPr algn="ctr">
              <a:spcAft>
                <a:spcPts val="200"/>
              </a:spcAft>
              <a:defRPr sz="1150" b="1">
                <a:solidFill>
                  <a:srgbClr val="1A365D"/>
                </a:solidFill>
                <a:latin typeface="Calibri"/>
              </a:defRPr>
            </a:pPr>
            <a:r>
              <a:t>5. Naive Pairwise Interval Comparisons</a:t>
            </a:r>
          </a:p>
          <a:p>
            <a:pPr>
              <a:lnSpc>
                <a:spcPct val="115000"/>
              </a:lnSpc>
              <a:defRPr sz="950">
                <a:solidFill>
                  <a:srgbClr val="334155"/>
                </a:solidFill>
                <a:latin typeface="Calibri"/>
              </a:defRPr>
            </a:pPr>
            <a:r>
              <a:t>Institutional Workflow: Comparing every incoming reservation linearly against all historical records.</a:t>
            </a:r>
            <a:br/>
            <a:r>
              <a:t>Critical Flaw: Quadratic O(N^2) scalability degradation as the semester booking database grows, causing severe latency spikes during peak festival registration windows.</a:t>
            </a:r>
          </a:p>
        </p:txBody>
      </p:sp>
      <p:sp>
        <p:nvSpPr>
          <p:cNvPr id="16" name="Rectangle 15"/>
          <p:cNvSpPr/>
          <p:nvPr/>
        </p:nvSpPr>
        <p:spPr>
          <a:xfrm>
            <a:off x="731520" y="5385815"/>
            <a:ext cx="91440" cy="8046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411480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ctr">
              <a:defRPr sz="950" b="1">
                <a:solidFill>
                  <a:srgbClr val="312E81"/>
                </a:solidFill>
                <a:latin typeface="Calibri"/>
              </a:defRPr>
            </a:pPr>
            <a:r>
              <a:t>ARCHITECTURAL FRAMEWORK</a:t>
            </a:r>
          </a:p>
        </p:txBody>
      </p:sp>
      <p:sp>
        <p:nvSpPr>
          <p:cNvPr id="3" name="TextBox 2"/>
          <p:cNvSpPr txBox="1"/>
          <p:nvPr/>
        </p:nvSpPr>
        <p:spPr>
          <a:xfrm>
            <a:off x="731520" y="777240"/>
            <a:ext cx="10698480" cy="868680"/>
          </a:xfrm>
          <a:prstGeom prst="rect">
            <a:avLst/>
          </a:prstGeom>
          <a:noFill/>
        </p:spPr>
        <p:txBody>
          <a:bodyPr wrap="square" lIns="0" tIns="0" rIns="0" bIns="0">
            <a:spAutoFit/>
          </a:bodyPr>
          <a:lstStyle/>
          <a:p>
            <a:pPr>
              <a:defRPr sz="2200" b="1">
                <a:solidFill>
                  <a:srgbClr val="1A365D"/>
                </a:solidFill>
                <a:latin typeface="Calibri"/>
              </a:defRPr>
            </a:pPr>
            <a:r>
              <a:t>Proposed Methodology: Algorithmic Interval Scheduling &amp; Concurrency Control</a:t>
            </a:r>
          </a:p>
          <a:p>
            <a:pPr>
              <a:spcBef>
                <a:spcPts val="300"/>
              </a:spcBef>
              <a:defRPr sz="1200">
                <a:solidFill>
                  <a:srgbClr val="64748B"/>
                </a:solidFill>
                <a:latin typeface="Calibri"/>
              </a:defRPr>
            </a:pPr>
            <a:r>
              <a:t>Three-Pillar Architectural Framework Implemented in the EventFlow Platform</a:t>
            </a:r>
          </a:p>
        </p:txBody>
      </p:sp>
      <p:sp>
        <p:nvSpPr>
          <p:cNvPr id="4" name="Rectangle 3"/>
          <p:cNvSpPr/>
          <p:nvPr/>
        </p:nvSpPr>
        <p:spPr>
          <a:xfrm>
            <a:off x="731520" y="169164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7315200" cy="274320"/>
          </a:xfrm>
          <a:prstGeom prst="rect">
            <a:avLst/>
          </a:prstGeom>
          <a:noFill/>
        </p:spPr>
        <p:txBody>
          <a:bodyPr wrap="square" lIns="0" tIns="0">
            <a:spAutoFit/>
          </a:bodyPr>
          <a:lstStyle/>
          <a:p>
            <a:pPr>
              <a:defRPr sz="900">
                <a:solidFill>
                  <a:srgbClr val="64748B"/>
                </a:solidFill>
                <a:latin typeface="Calibri"/>
              </a:defRPr>
            </a:pPr>
            <a:r>
              <a:t>CSA1021 - Software Engineering | Capstone Project 2026 | Saveetha School of Engineering (SIMATS)</a:t>
            </a:r>
          </a:p>
        </p:txBody>
      </p:sp>
      <p:sp>
        <p:nvSpPr>
          <p:cNvPr id="6" name="TextBox 5"/>
          <p:cNvSpPr txBox="1"/>
          <p:nvPr/>
        </p:nvSpPr>
        <p:spPr>
          <a:xfrm>
            <a:off x="9601200" y="6400800"/>
            <a:ext cx="1828800" cy="274320"/>
          </a:xfrm>
          <a:prstGeom prst="rect">
            <a:avLst/>
          </a:prstGeom>
          <a:noFill/>
        </p:spPr>
        <p:txBody>
          <a:bodyPr wrap="square" rIns="0" tIns="0">
            <a:spAutoFit/>
          </a:bodyPr>
          <a:lstStyle/>
          <a:p>
            <a:pPr algn="r">
              <a:defRPr sz="900">
                <a:solidFill>
                  <a:srgbClr val="64748B"/>
                </a:solidFill>
                <a:latin typeface="Calibri"/>
              </a:defRPr>
            </a:pPr>
            <a:r>
              <a:t>Slide 8 of 13</a:t>
            </a:r>
          </a:p>
        </p:txBody>
      </p:sp>
      <p:sp>
        <p:nvSpPr>
          <p:cNvPr id="7" name="Rounded Rectangle 6"/>
          <p:cNvSpPr/>
          <p:nvPr/>
        </p:nvSpPr>
        <p:spPr>
          <a:xfrm>
            <a:off x="731520" y="1874519"/>
            <a:ext cx="3410712"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1000"/>
              </a:spcAft>
              <a:defRPr sz="1200" b="1">
                <a:solidFill>
                  <a:srgbClr val="1A365D"/>
                </a:solidFill>
                <a:latin typeface="Calibri"/>
              </a:defRPr>
            </a:pPr>
            <a:r>
              <a:t>Pillar 1: Formal Interval Modeling &amp; Half-Open Algebra</a:t>
            </a:r>
          </a:p>
          <a:p>
            <a:pPr>
              <a:lnSpc>
                <a:spcPct val="115000"/>
              </a:lnSpc>
              <a:spcAft>
                <a:spcPts val="800"/>
              </a:spcAft>
              <a:defRPr sz="950">
                <a:latin typeface="Calibri"/>
              </a:defRPr>
            </a:pPr>
            <a:r>
              <a:rPr b="1">
                <a:solidFill>
                  <a:srgbClr val="0F172A"/>
                </a:solidFill>
              </a:rPr>
              <a:t>Resource Mapping: </a:t>
            </a:r>
            <a:r>
              <a:rPr>
                <a:solidFill>
                  <a:srgbClr val="334155"/>
                </a:solidFill>
              </a:rPr>
              <a:t>Each venue V_k is formulated as an independent, continuous time resource timeline.</a:t>
            </a:r>
          </a:p>
          <a:p>
            <a:pPr>
              <a:lnSpc>
                <a:spcPct val="115000"/>
              </a:lnSpc>
              <a:spcAft>
                <a:spcPts val="800"/>
              </a:spcAft>
              <a:defRPr sz="950">
                <a:latin typeface="Calibri"/>
              </a:defRPr>
            </a:pPr>
            <a:r>
              <a:rPr b="1">
                <a:solidFill>
                  <a:srgbClr val="0F172A"/>
                </a:solidFill>
              </a:rPr>
              <a:t>Half-Open Interval: </a:t>
            </a:r>
            <a:r>
              <a:rPr>
                <a:solidFill>
                  <a:srgbClr val="334155"/>
                </a:solidFill>
              </a:rPr>
              <a:t>Every booking request is represented as I_i = [s_i, e_i), where s_i is start time and e_i is end time.</a:t>
            </a:r>
          </a:p>
          <a:p>
            <a:pPr>
              <a:lnSpc>
                <a:spcPct val="115000"/>
              </a:lnSpc>
              <a:spcAft>
                <a:spcPts val="800"/>
              </a:spcAft>
              <a:defRPr sz="950">
                <a:latin typeface="Calibri"/>
              </a:defRPr>
            </a:pPr>
            <a:r>
              <a:rPr b="1">
                <a:solidFill>
                  <a:srgbClr val="0F172A"/>
                </a:solidFill>
              </a:rPr>
              <a:t>Back-to-Back Feasibility: </a:t>
            </a:r>
            <a:r>
              <a:rPr>
                <a:solidFill>
                  <a:srgbClr val="334155"/>
                </a:solidFill>
              </a:rPr>
              <a:t>Half-open boundaries strictly allow contiguous scheduling ([10:00, 12:00) and [12:00, 14:00) do not collide since 12:00 &lt; 12:00 is False).</a:t>
            </a:r>
          </a:p>
          <a:p>
            <a:pPr>
              <a:lnSpc>
                <a:spcPct val="115000"/>
              </a:lnSpc>
              <a:spcAft>
                <a:spcPts val="800"/>
              </a:spcAft>
              <a:defRPr sz="950">
                <a:latin typeface="Calibri"/>
              </a:defRPr>
            </a:pPr>
            <a:r>
              <a:rPr b="1">
                <a:solidFill>
                  <a:srgbClr val="0F172A"/>
                </a:solidFill>
              </a:rPr>
              <a:t>Overlap Condition: </a:t>
            </a:r>
            <a:r>
              <a:rPr>
                <a:solidFill>
                  <a:srgbClr val="334155"/>
                </a:solidFill>
              </a:rPr>
              <a:t>Collision(I_new, I_ext) &lt;=&gt; (s_new &lt; e_ext) AND (e_new &gt; s_ext). Any non-zero intersection triggers immediate rejection.</a:t>
            </a:r>
          </a:p>
        </p:txBody>
      </p:sp>
      <p:sp>
        <p:nvSpPr>
          <p:cNvPr id="8" name="Rectangle 7"/>
          <p:cNvSpPr/>
          <p:nvPr/>
        </p:nvSpPr>
        <p:spPr>
          <a:xfrm>
            <a:off x="731520" y="1874519"/>
            <a:ext cx="3410712"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9120" y="1874519"/>
            <a:ext cx="3410712"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1000"/>
              </a:spcAft>
              <a:defRPr sz="1200" b="1">
                <a:solidFill>
                  <a:srgbClr val="1A365D"/>
                </a:solidFill>
                <a:latin typeface="Calibri"/>
              </a:defRPr>
            </a:pPr>
            <a:r>
              <a:t>Pillar 2: Algorithmic Collision Detection &amp; Optimization</a:t>
            </a:r>
          </a:p>
          <a:p>
            <a:pPr>
              <a:lnSpc>
                <a:spcPct val="115000"/>
              </a:lnSpc>
              <a:spcAft>
                <a:spcPts val="800"/>
              </a:spcAft>
              <a:defRPr sz="950">
                <a:latin typeface="Calibri"/>
              </a:defRPr>
            </a:pPr>
            <a:r>
              <a:rPr b="1">
                <a:solidFill>
                  <a:srgbClr val="0F172A"/>
                </a:solidFill>
              </a:rPr>
              <a:t>Single Dynamic Request: </a:t>
            </a:r>
            <a:r>
              <a:rPr>
                <a:solidFill>
                  <a:srgbClr val="334155"/>
                </a:solidFill>
              </a:rPr>
              <a:t>Active confirmed bookings are kept sorted by start time s_i. Binary search (bisect) locates the insertion index in O(log N) time.</a:t>
            </a:r>
          </a:p>
          <a:p>
            <a:pPr>
              <a:lnSpc>
                <a:spcPct val="115000"/>
              </a:lnSpc>
              <a:spcAft>
                <a:spcPts val="800"/>
              </a:spcAft>
              <a:defRPr sz="950">
                <a:latin typeface="Calibri"/>
              </a:defRPr>
            </a:pPr>
            <a:r>
              <a:rPr b="1">
                <a:solidFill>
                  <a:srgbClr val="0F172A"/>
                </a:solidFill>
              </a:rPr>
              <a:t>Neighbor-Only Check: </a:t>
            </a:r>
            <a:r>
              <a:rPr>
                <a:solidFill>
                  <a:srgbClr val="334155"/>
                </a:solidFill>
              </a:rPr>
              <a:t>Collision is evaluated strictly against adjacent predecessor and successor intervals, eliminating O(N) linear scans.</a:t>
            </a:r>
          </a:p>
          <a:p>
            <a:pPr>
              <a:lnSpc>
                <a:spcPct val="115000"/>
              </a:lnSpc>
              <a:spcAft>
                <a:spcPts val="800"/>
              </a:spcAft>
              <a:defRPr sz="950">
                <a:latin typeface="Calibri"/>
              </a:defRPr>
            </a:pPr>
            <a:r>
              <a:rPr b="1">
                <a:solidFill>
                  <a:srgbClr val="0F172A"/>
                </a:solidFill>
              </a:rPr>
              <a:t>Batch Optimization (Greedy EFT): </a:t>
            </a:r>
            <a:r>
              <a:rPr>
                <a:solidFill>
                  <a:srgbClr val="334155"/>
                </a:solidFill>
              </a:rPr>
              <a:t>For competing reservation batches, intervals are sorted by Earliest Finish Time (e_1 &lt;= e_2 &lt;= ... &lt;= e_M).</a:t>
            </a:r>
          </a:p>
          <a:p>
            <a:pPr>
              <a:lnSpc>
                <a:spcPct val="115000"/>
              </a:lnSpc>
              <a:spcAft>
                <a:spcPts val="800"/>
              </a:spcAft>
              <a:defRPr sz="950">
                <a:latin typeface="Calibri"/>
              </a:defRPr>
            </a:pPr>
            <a:r>
              <a:rPr b="1">
                <a:solidFill>
                  <a:srgbClr val="0F172A"/>
                </a:solidFill>
              </a:rPr>
              <a:t>Provable Optimality: </a:t>
            </a:r>
            <a:r>
              <a:rPr>
                <a:solidFill>
                  <a:srgbClr val="334155"/>
                </a:solidFill>
              </a:rPr>
              <a:t>Greedily accepting non-overlapping requests guarantees maximum event throughput in O(M log M) time.</a:t>
            </a:r>
          </a:p>
        </p:txBody>
      </p:sp>
      <p:sp>
        <p:nvSpPr>
          <p:cNvPr id="10" name="Rectangle 9"/>
          <p:cNvSpPr/>
          <p:nvPr/>
        </p:nvSpPr>
        <p:spPr>
          <a:xfrm>
            <a:off x="4389120" y="1874519"/>
            <a:ext cx="3410712" cy="914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46720" y="1874519"/>
            <a:ext cx="3410712"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1000"/>
              </a:spcAft>
              <a:defRPr sz="1200" b="1">
                <a:solidFill>
                  <a:srgbClr val="1A365D"/>
                </a:solidFill>
                <a:latin typeface="Calibri"/>
              </a:defRPr>
            </a:pPr>
            <a:r>
              <a:t>Pillar 3: Concurrency Engine &amp; Feedback in EventFlow</a:t>
            </a:r>
          </a:p>
          <a:p>
            <a:pPr>
              <a:lnSpc>
                <a:spcPct val="115000"/>
              </a:lnSpc>
              <a:spcAft>
                <a:spcPts val="800"/>
              </a:spcAft>
              <a:defRPr sz="950">
                <a:latin typeface="Calibri"/>
              </a:defRPr>
            </a:pPr>
            <a:r>
              <a:rPr b="1">
                <a:solidFill>
                  <a:srgbClr val="0F172A"/>
                </a:solidFill>
              </a:rPr>
              <a:t>ACID Transaction Locking: </a:t>
            </a:r>
            <a:r>
              <a:rPr>
                <a:solidFill>
                  <a:srgbClr val="334155"/>
                </a:solidFill>
              </a:rPr>
              <a:t>Integrated into FastAPI backend with SQLite WAL mode / Supabase PostgreSQL. Validation and write execute inside an atomic transaction.</a:t>
            </a:r>
          </a:p>
          <a:p>
            <a:pPr>
              <a:lnSpc>
                <a:spcPct val="115000"/>
              </a:lnSpc>
              <a:spcAft>
                <a:spcPts val="800"/>
              </a:spcAft>
              <a:defRPr sz="950">
                <a:latin typeface="Calibri"/>
              </a:defRPr>
            </a:pPr>
            <a:r>
              <a:rPr b="1">
                <a:solidFill>
                  <a:srgbClr val="0F172A"/>
                </a:solidFill>
              </a:rPr>
              <a:t>TOCTOU Elimination: </a:t>
            </a:r>
            <a:r>
              <a:rPr>
                <a:solidFill>
                  <a:srgbClr val="334155"/>
                </a:solidFill>
              </a:rPr>
              <a:t>Venue-level mutual exclusion lock serializes concurrent submissions, preventing race conditions from slipping through.</a:t>
            </a:r>
          </a:p>
          <a:p>
            <a:pPr>
              <a:lnSpc>
                <a:spcPct val="115000"/>
              </a:lnSpc>
              <a:spcAft>
                <a:spcPts val="800"/>
              </a:spcAft>
              <a:defRPr sz="950">
                <a:latin typeface="Calibri"/>
              </a:defRPr>
            </a:pPr>
            <a:r>
              <a:rPr b="1">
                <a:solidFill>
                  <a:srgbClr val="0F172A"/>
                </a:solidFill>
              </a:rPr>
              <a:t>Intelligent Feedback: </a:t>
            </a:r>
            <a:r>
              <a:rPr>
                <a:solidFill>
                  <a:srgbClr val="334155"/>
                </a:solidFill>
              </a:rPr>
              <a:t>When rejected, the engine analyzes schedule gaps to compute the nearest vacant slot in the requested venue.</a:t>
            </a:r>
          </a:p>
          <a:p>
            <a:pPr>
              <a:lnSpc>
                <a:spcPct val="115000"/>
              </a:lnSpc>
              <a:spcAft>
                <a:spcPts val="800"/>
              </a:spcAft>
              <a:defRPr sz="950">
                <a:latin typeface="Calibri"/>
              </a:defRPr>
            </a:pPr>
            <a:r>
              <a:rPr b="1">
                <a:solidFill>
                  <a:srgbClr val="0F172A"/>
                </a:solidFill>
              </a:rPr>
              <a:t>Alternative Venue Routing: </a:t>
            </a:r>
            <a:r>
              <a:rPr>
                <a:solidFill>
                  <a:srgbClr val="334155"/>
                </a:solidFill>
              </a:rPr>
              <a:t>Queries available campus venues with matching capacity, providing immediate alternatives to organizers.</a:t>
            </a:r>
          </a:p>
        </p:txBody>
      </p:sp>
      <p:sp>
        <p:nvSpPr>
          <p:cNvPr id="12" name="Rectangle 11"/>
          <p:cNvSpPr/>
          <p:nvPr/>
        </p:nvSpPr>
        <p:spPr>
          <a:xfrm>
            <a:off x="8046720" y="1874519"/>
            <a:ext cx="3410712" cy="91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411480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ctr">
              <a:defRPr sz="950" b="1">
                <a:solidFill>
                  <a:srgbClr val="312E81"/>
                </a:solidFill>
                <a:latin typeface="Calibri"/>
              </a:defRPr>
            </a:pPr>
            <a:r>
              <a:t>SOFTWARE ENGINEERING LIFECYCLE | PHASE 1</a:t>
            </a:r>
          </a:p>
        </p:txBody>
      </p:sp>
      <p:sp>
        <p:nvSpPr>
          <p:cNvPr id="3" name="TextBox 2"/>
          <p:cNvSpPr txBox="1"/>
          <p:nvPr/>
        </p:nvSpPr>
        <p:spPr>
          <a:xfrm>
            <a:off x="731520" y="777240"/>
            <a:ext cx="10698480" cy="868680"/>
          </a:xfrm>
          <a:prstGeom prst="rect">
            <a:avLst/>
          </a:prstGeom>
          <a:noFill/>
        </p:spPr>
        <p:txBody>
          <a:bodyPr wrap="square" lIns="0" tIns="0" rIns="0" bIns="0">
            <a:spAutoFit/>
          </a:bodyPr>
          <a:lstStyle/>
          <a:p>
            <a:pPr>
              <a:defRPr sz="2200" b="1">
                <a:solidFill>
                  <a:srgbClr val="1A365D"/>
                </a:solidFill>
                <a:latin typeface="Calibri"/>
              </a:defRPr>
            </a:pPr>
            <a:r>
              <a:t>Module 1: Requirement Gathering &amp; Specification Analysis</a:t>
            </a:r>
          </a:p>
          <a:p>
            <a:pPr>
              <a:spcBef>
                <a:spcPts val="300"/>
              </a:spcBef>
              <a:defRPr sz="1200">
                <a:solidFill>
                  <a:srgbClr val="64748B"/>
                </a:solidFill>
                <a:latin typeface="Calibri"/>
              </a:defRPr>
            </a:pPr>
            <a:r>
              <a:t>Comprehensive stakeholder taxonomy, functional domain rules, and non-functional engineering constraints</a:t>
            </a:r>
          </a:p>
        </p:txBody>
      </p:sp>
      <p:sp>
        <p:nvSpPr>
          <p:cNvPr id="4" name="Rectangle 3"/>
          <p:cNvSpPr/>
          <p:nvPr/>
        </p:nvSpPr>
        <p:spPr>
          <a:xfrm>
            <a:off x="731520" y="169164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7315200" cy="274320"/>
          </a:xfrm>
          <a:prstGeom prst="rect">
            <a:avLst/>
          </a:prstGeom>
          <a:noFill/>
        </p:spPr>
        <p:txBody>
          <a:bodyPr wrap="square" lIns="0" tIns="0">
            <a:spAutoFit/>
          </a:bodyPr>
          <a:lstStyle/>
          <a:p>
            <a:pPr>
              <a:defRPr sz="900">
                <a:solidFill>
                  <a:srgbClr val="64748B"/>
                </a:solidFill>
                <a:latin typeface="Calibri"/>
              </a:defRPr>
            </a:pPr>
            <a:r>
              <a:t>CSA1021 - Software Engineering | Capstone Project 2026 | Saveetha School of Engineering (SIMATS)</a:t>
            </a:r>
          </a:p>
        </p:txBody>
      </p:sp>
      <p:sp>
        <p:nvSpPr>
          <p:cNvPr id="6" name="TextBox 5"/>
          <p:cNvSpPr txBox="1"/>
          <p:nvPr/>
        </p:nvSpPr>
        <p:spPr>
          <a:xfrm>
            <a:off x="9601200" y="6400800"/>
            <a:ext cx="1828800" cy="274320"/>
          </a:xfrm>
          <a:prstGeom prst="rect">
            <a:avLst/>
          </a:prstGeom>
          <a:noFill/>
        </p:spPr>
        <p:txBody>
          <a:bodyPr wrap="square" rIns="0" tIns="0">
            <a:spAutoFit/>
          </a:bodyPr>
          <a:lstStyle/>
          <a:p>
            <a:pPr algn="r">
              <a:defRPr sz="900">
                <a:solidFill>
                  <a:srgbClr val="64748B"/>
                </a:solidFill>
                <a:latin typeface="Calibri"/>
              </a:defRPr>
            </a:pPr>
            <a:r>
              <a:t>Slide 9 of 13</a:t>
            </a:r>
          </a:p>
        </p:txBody>
      </p:sp>
      <p:sp>
        <p:nvSpPr>
          <p:cNvPr id="7" name="Rounded Rectangle 6"/>
          <p:cNvSpPr/>
          <p:nvPr/>
        </p:nvSpPr>
        <p:spPr>
          <a:xfrm>
            <a:off x="731520" y="1874519"/>
            <a:ext cx="5239512"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64592" rIns="182880"/>
          <a:lstStyle/>
          <a:p>
            <a:pPr algn="ctr">
              <a:spcAft>
                <a:spcPts val="600"/>
              </a:spcAft>
              <a:defRPr sz="1250" b="1">
                <a:solidFill>
                  <a:srgbClr val="1A365D"/>
                </a:solidFill>
                <a:latin typeface="Calibri"/>
              </a:defRPr>
            </a:pPr>
            <a:r>
              <a:t>1. Stakeholder Taxonomy &amp; User Personas</a:t>
            </a:r>
          </a:p>
          <a:p>
            <a:pPr>
              <a:lnSpc>
                <a:spcPct val="118000"/>
              </a:lnSpc>
              <a:defRPr sz="950">
                <a:solidFill>
                  <a:srgbClr val="334155"/>
                </a:solidFill>
                <a:latin typeface="Calibri"/>
              </a:defRPr>
            </a:pPr>
            <a:r>
              <a:t>Student Coordinators: Rapid multi-session event creation, automated interval collision check, capacity capping, CSV exports.</a:t>
            </a:r>
            <a:br/>
            <a:r>
              <a:t>Estate &amp; Administration: Centralized venue authority, audit log visibility, conflict override prevention, utilization tracking.</a:t>
            </a:r>
            <a:br/>
            <a:r>
              <a:t>Student Attendees: Frictionless discovery, conflict-free schedule navigation, instant QR pass generation (EVF-2026-XXXX).</a:t>
            </a:r>
            <a:br/>
            <a:r>
              <a:t>Faculty &amp; HODs: Verifiable attendance tracking, department engagement distributions, and emergency broadcast ticker.</a:t>
            </a:r>
          </a:p>
        </p:txBody>
      </p:sp>
      <p:sp>
        <p:nvSpPr>
          <p:cNvPr id="8" name="Rectangle 7"/>
          <p:cNvSpPr/>
          <p:nvPr/>
        </p:nvSpPr>
        <p:spPr>
          <a:xfrm>
            <a:off x="731520" y="1874519"/>
            <a:ext cx="109728" cy="2057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874519"/>
            <a:ext cx="5239512"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64592" rIns="182880"/>
          <a:lstStyle/>
          <a:p>
            <a:pPr algn="ctr">
              <a:spcAft>
                <a:spcPts val="600"/>
              </a:spcAft>
              <a:defRPr sz="1250" b="1">
                <a:solidFill>
                  <a:srgbClr val="1A365D"/>
                </a:solidFill>
                <a:latin typeface="Calibri"/>
              </a:defRPr>
            </a:pPr>
            <a:r>
              <a:t>2. Functional Requirements (FR) Specification</a:t>
            </a:r>
          </a:p>
          <a:p>
            <a:pPr>
              <a:lnSpc>
                <a:spcPct val="118000"/>
              </a:lnSpc>
              <a:defRPr sz="950">
                <a:solidFill>
                  <a:srgbClr val="334155"/>
                </a:solidFill>
                <a:latin typeface="Calibri"/>
              </a:defRPr>
            </a:pPr>
            <a:r>
              <a:t>FR-1 (Temporal Collision Engine): Reject reservation if (s_new &lt; e_ext) AND (e_new &gt; s_ext) on venue V_k before database write.</a:t>
            </a:r>
            <a:br/>
            <a:r>
              <a:t>FR-2 (Batch Conflict Resolution): Greedy Earliest Finish Time (EFT) maximizing accepted disjoint events in O(M log M).</a:t>
            </a:r>
            <a:br/>
            <a:r>
              <a:t>FR-3 (Smart Rejection &amp; Routing): Compute nearest vacant gap [e_i, s_{i+1}) where duration &gt;= dt; suggest equivalent venues.</a:t>
            </a:r>
            <a:br/>
            <a:r>
              <a:t>FR-4 (Hierarchical Rounds): Multi-round session modeling with distinct venue rooms (e.g. Round 1 Quiz, Round 2 Pitch).</a:t>
            </a:r>
          </a:p>
        </p:txBody>
      </p:sp>
      <p:sp>
        <p:nvSpPr>
          <p:cNvPr id="10" name="Rectangle 9"/>
          <p:cNvSpPr/>
          <p:nvPr/>
        </p:nvSpPr>
        <p:spPr>
          <a:xfrm>
            <a:off x="6217920" y="1874519"/>
            <a:ext cx="109728" cy="20574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4114800"/>
            <a:ext cx="5239512"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64592" rIns="182880"/>
          <a:lstStyle/>
          <a:p>
            <a:pPr algn="ctr">
              <a:spcAft>
                <a:spcPts val="600"/>
              </a:spcAft>
              <a:defRPr sz="1250" b="1">
                <a:solidFill>
                  <a:srgbClr val="1A365D"/>
                </a:solidFill>
                <a:latin typeface="Calibri"/>
              </a:defRPr>
            </a:pPr>
            <a:r>
              <a:t>3. Non-Functional Engineering Constraints (NFR)</a:t>
            </a:r>
          </a:p>
          <a:p>
            <a:pPr>
              <a:lnSpc>
                <a:spcPct val="118000"/>
              </a:lnSpc>
              <a:defRPr sz="950">
                <a:solidFill>
                  <a:srgbClr val="334155"/>
                </a:solidFill>
                <a:latin typeface="Calibri"/>
              </a:defRPr>
            </a:pPr>
            <a:r>
              <a:t>NFR-1 (Consistency &amp; ACID Integrity): Zero double-booking tolerance under high-concurrency race conditions; mutual exclusion.</a:t>
            </a:r>
            <a:br/>
            <a:r>
              <a:t>NFR-2 (Performance &amp; Latency): Sub-2ms interval bisection collision checks; sub-50ms HTTP API response latency.</a:t>
            </a:r>
            <a:br/>
            <a:r>
              <a:t>NFR-3 (High Availability &amp; Failover): Supabase Cloud PostgreSQL with automated local FastAPI + SQLite WAL fallback.</a:t>
            </a:r>
            <a:br/>
            <a:r>
              <a:t>NFR-4 (Security &amp; RBAC): Row-Level Security (RLS) enforcement, Pydantic v2 input sanitization, encrypted transport.</a:t>
            </a:r>
          </a:p>
        </p:txBody>
      </p:sp>
      <p:sp>
        <p:nvSpPr>
          <p:cNvPr id="12" name="Rectangle 11"/>
          <p:cNvSpPr/>
          <p:nvPr/>
        </p:nvSpPr>
        <p:spPr>
          <a:xfrm>
            <a:off x="731520" y="4114800"/>
            <a:ext cx="109728" cy="20574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4114800"/>
            <a:ext cx="5239512"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64592" rIns="182880"/>
          <a:lstStyle/>
          <a:p>
            <a:pPr algn="ctr">
              <a:spcAft>
                <a:spcPts val="600"/>
              </a:spcAft>
              <a:defRPr sz="1250" b="1">
                <a:solidFill>
                  <a:srgbClr val="1A365D"/>
                </a:solidFill>
                <a:latin typeface="Calibri"/>
              </a:defRPr>
            </a:pPr>
            <a:r>
              <a:t>4. Domain Constraints &amp; Boundary Edge Cases</a:t>
            </a:r>
          </a:p>
          <a:p>
            <a:pPr>
              <a:lnSpc>
                <a:spcPct val="118000"/>
              </a:lnSpc>
              <a:defRPr sz="950">
                <a:solidFill>
                  <a:srgbClr val="334155"/>
                </a:solidFill>
                <a:latin typeface="Calibri"/>
              </a:defRPr>
            </a:pPr>
            <a:r>
              <a:t>Half-Open Algebra [s_i, e_i): Eliminates false boundary collisions. Events ending at 12:00 and starting at 12:00 are contiguous.</a:t>
            </a:r>
            <a:br/>
            <a:r>
              <a:t>Envelopment &amp; Partial Overlaps: Fully detects nested intervals (09:00-17:00 enclosing 13:00-15:00) and partial intersections.</a:t>
            </a:r>
            <a:br/>
            <a:r>
              <a:t>Capacity Overflow Protection: Atomic decrements prevent over-registration beyond physical room limits during flash bursts.</a:t>
            </a:r>
            <a:br/>
            <a:r>
              <a:t>Cascading Dependencies: Deletion of parent events cascades to nested sessions without orphaned schedule fragments.</a:t>
            </a:r>
          </a:p>
        </p:txBody>
      </p:sp>
      <p:sp>
        <p:nvSpPr>
          <p:cNvPr id="14" name="Rectangle 13"/>
          <p:cNvSpPr/>
          <p:nvPr/>
        </p:nvSpPr>
        <p:spPr>
          <a:xfrm>
            <a:off x="6217920" y="4114800"/>
            <a:ext cx="109728" cy="2057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411480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ctr">
              <a:defRPr sz="950" b="1">
                <a:solidFill>
                  <a:srgbClr val="312E81"/>
                </a:solidFill>
                <a:latin typeface="Calibri"/>
              </a:defRPr>
            </a:pPr>
            <a:r>
              <a:t>SOFTWARE ENGINEERING LIFECYCLE | PHASE 2</a:t>
            </a:r>
          </a:p>
        </p:txBody>
      </p:sp>
      <p:sp>
        <p:nvSpPr>
          <p:cNvPr id="3" name="TextBox 2"/>
          <p:cNvSpPr txBox="1"/>
          <p:nvPr/>
        </p:nvSpPr>
        <p:spPr>
          <a:xfrm>
            <a:off x="731520" y="777240"/>
            <a:ext cx="10698480" cy="868680"/>
          </a:xfrm>
          <a:prstGeom prst="rect">
            <a:avLst/>
          </a:prstGeom>
          <a:noFill/>
        </p:spPr>
        <p:txBody>
          <a:bodyPr wrap="square" lIns="0" tIns="0" rIns="0" bIns="0">
            <a:spAutoFit/>
          </a:bodyPr>
          <a:lstStyle/>
          <a:p>
            <a:pPr>
              <a:defRPr sz="2200" b="1">
                <a:solidFill>
                  <a:srgbClr val="1A365D"/>
                </a:solidFill>
                <a:latin typeface="Calibri"/>
              </a:defRPr>
            </a:pPr>
            <a:r>
              <a:t>Module 2: System Design &amp; Algorithmic Architecture</a:t>
            </a:r>
          </a:p>
          <a:p>
            <a:pPr>
              <a:spcBef>
                <a:spcPts val="300"/>
              </a:spcBef>
              <a:defRPr sz="1200">
                <a:solidFill>
                  <a:srgbClr val="64748B"/>
                </a:solidFill>
                <a:latin typeface="Calibri"/>
              </a:defRPr>
            </a:pPr>
            <a:r>
              <a:t>Component decomposition, relational entity-relationship modeling, and interval concurrency design</a:t>
            </a:r>
          </a:p>
        </p:txBody>
      </p:sp>
      <p:sp>
        <p:nvSpPr>
          <p:cNvPr id="4" name="Rectangle 3"/>
          <p:cNvSpPr/>
          <p:nvPr/>
        </p:nvSpPr>
        <p:spPr>
          <a:xfrm>
            <a:off x="731520" y="169164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7315200" cy="274320"/>
          </a:xfrm>
          <a:prstGeom prst="rect">
            <a:avLst/>
          </a:prstGeom>
          <a:noFill/>
        </p:spPr>
        <p:txBody>
          <a:bodyPr wrap="square" lIns="0" tIns="0">
            <a:spAutoFit/>
          </a:bodyPr>
          <a:lstStyle/>
          <a:p>
            <a:pPr>
              <a:defRPr sz="900">
                <a:solidFill>
                  <a:srgbClr val="64748B"/>
                </a:solidFill>
                <a:latin typeface="Calibri"/>
              </a:defRPr>
            </a:pPr>
            <a:r>
              <a:t>CSA1021 - Software Engineering | Capstone Project 2026 | Saveetha School of Engineering (SIMATS)</a:t>
            </a:r>
          </a:p>
        </p:txBody>
      </p:sp>
      <p:sp>
        <p:nvSpPr>
          <p:cNvPr id="6" name="TextBox 5"/>
          <p:cNvSpPr txBox="1"/>
          <p:nvPr/>
        </p:nvSpPr>
        <p:spPr>
          <a:xfrm>
            <a:off x="9601200" y="6400800"/>
            <a:ext cx="1828800" cy="274320"/>
          </a:xfrm>
          <a:prstGeom prst="rect">
            <a:avLst/>
          </a:prstGeom>
          <a:noFill/>
        </p:spPr>
        <p:txBody>
          <a:bodyPr wrap="square" rIns="0" tIns="0">
            <a:spAutoFit/>
          </a:bodyPr>
          <a:lstStyle/>
          <a:p>
            <a:pPr algn="r">
              <a:defRPr sz="900">
                <a:solidFill>
                  <a:srgbClr val="64748B"/>
                </a:solidFill>
                <a:latin typeface="Calibri"/>
              </a:defRPr>
            </a:pPr>
            <a:r>
              <a:t>Slide 10 of 13</a:t>
            </a:r>
          </a:p>
        </p:txBody>
      </p:sp>
      <p:sp>
        <p:nvSpPr>
          <p:cNvPr id="7" name="Rounded Rectangle 6"/>
          <p:cNvSpPr/>
          <p:nvPr/>
        </p:nvSpPr>
        <p:spPr>
          <a:xfrm>
            <a:off x="731520" y="1874519"/>
            <a:ext cx="3410712"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1000"/>
              </a:spcAft>
              <a:defRPr sz="1200" b="1">
                <a:solidFill>
                  <a:srgbClr val="1A365D"/>
                </a:solidFill>
                <a:latin typeface="Calibri"/>
              </a:defRPr>
            </a:pPr>
            <a:r>
              <a:t>1. Multi-Tier Subsystem Decomposition</a:t>
            </a:r>
          </a:p>
          <a:p>
            <a:pPr>
              <a:lnSpc>
                <a:spcPct val="115000"/>
              </a:lnSpc>
              <a:spcAft>
                <a:spcPts val="800"/>
              </a:spcAft>
              <a:defRPr sz="950">
                <a:latin typeface="Calibri"/>
              </a:defRPr>
            </a:pPr>
            <a:r>
              <a:rPr b="1">
                <a:solidFill>
                  <a:srgbClr val="0F172A"/>
                </a:solidFill>
              </a:rPr>
              <a:t>Presentation Layer: </a:t>
            </a:r>
            <a:r>
              <a:rPr>
                <a:solidFill>
                  <a:srgbClr val="334155"/>
                </a:solidFill>
              </a:rPr>
              <a:t>React 18.3 + Vite 6.1 SPA with dual persona views (Participant Portal &amp; Organizer SaaS Dashboard). 6-tier Poppins typography (weights 300 to 900).</a:t>
            </a:r>
          </a:p>
          <a:p>
            <a:pPr>
              <a:lnSpc>
                <a:spcPct val="115000"/>
              </a:lnSpc>
              <a:spcAft>
                <a:spcPts val="800"/>
              </a:spcAft>
              <a:defRPr sz="950">
                <a:latin typeface="Calibri"/>
              </a:defRPr>
            </a:pPr>
            <a:r>
              <a:rPr b="1">
                <a:solidFill>
                  <a:srgbClr val="0F172A"/>
                </a:solidFill>
              </a:rPr>
              <a:t>API Gateway &amp; Services: </a:t>
            </a:r>
            <a:r>
              <a:rPr>
                <a:solidFill>
                  <a:srgbClr val="334155"/>
                </a:solidFill>
              </a:rPr>
              <a:t>FastAPI ASGI server with modular APIRouters (/events, /registrations, /attendance, /stats). Runtime Pydantic v2 schema validations.</a:t>
            </a:r>
          </a:p>
          <a:p>
            <a:pPr>
              <a:lnSpc>
                <a:spcPct val="115000"/>
              </a:lnSpc>
              <a:spcAft>
                <a:spcPts val="800"/>
              </a:spcAft>
              <a:defRPr sz="950">
                <a:latin typeface="Calibri"/>
              </a:defRPr>
            </a:pPr>
            <a:r>
              <a:rPr b="1">
                <a:solidFill>
                  <a:srgbClr val="0F172A"/>
                </a:solidFill>
              </a:rPr>
              <a:t>Dual-Mode Persistence: </a:t>
            </a:r>
            <a:r>
              <a:rPr>
                <a:solidFill>
                  <a:srgbClr val="334155"/>
                </a:solidFill>
              </a:rPr>
              <a:t>Unified API service (api.js) probes Supabase Cloud PostgreSQL with RLS. Automatically fails over to local SQLite WAL mode if offline.</a:t>
            </a:r>
          </a:p>
          <a:p>
            <a:pPr>
              <a:lnSpc>
                <a:spcPct val="115000"/>
              </a:lnSpc>
              <a:spcAft>
                <a:spcPts val="800"/>
              </a:spcAft>
              <a:defRPr sz="950">
                <a:latin typeface="Calibri"/>
              </a:defRPr>
            </a:pPr>
            <a:r>
              <a:rPr b="1">
                <a:solidFill>
                  <a:srgbClr val="0F172A"/>
                </a:solidFill>
              </a:rPr>
              <a:t>Client Utilities: </a:t>
            </a:r>
            <a:r>
              <a:rPr>
                <a:solidFill>
                  <a:srgbClr val="334155"/>
                </a:solidFill>
              </a:rPr>
              <a:t>Client-side HTML5 canvas QR code ticketing, multi-round session timelines, and UTF-8 CSV roster streaming.</a:t>
            </a:r>
          </a:p>
        </p:txBody>
      </p:sp>
      <p:sp>
        <p:nvSpPr>
          <p:cNvPr id="8" name="Rectangle 7"/>
          <p:cNvSpPr/>
          <p:nvPr/>
        </p:nvSpPr>
        <p:spPr>
          <a:xfrm>
            <a:off x="731520" y="1874519"/>
            <a:ext cx="3410712"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9120" y="1874519"/>
            <a:ext cx="3410712"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1000"/>
              </a:spcAft>
              <a:defRPr sz="1200" b="1">
                <a:solidFill>
                  <a:srgbClr val="1A365D"/>
                </a:solidFill>
                <a:latin typeface="Calibri"/>
              </a:defRPr>
            </a:pPr>
            <a:r>
              <a:t>2. Algorithmic Interval Scheduling Engine</a:t>
            </a:r>
          </a:p>
          <a:p>
            <a:pPr>
              <a:lnSpc>
                <a:spcPct val="115000"/>
              </a:lnSpc>
              <a:spcAft>
                <a:spcPts val="800"/>
              </a:spcAft>
              <a:defRPr sz="950">
                <a:latin typeface="Calibri"/>
              </a:defRPr>
            </a:pPr>
            <a:r>
              <a:rPr b="1">
                <a:solidFill>
                  <a:srgbClr val="0F172A"/>
                </a:solidFill>
              </a:rPr>
              <a:t>Discrete Representation: </a:t>
            </a:r>
            <a:r>
              <a:rPr>
                <a:solidFill>
                  <a:srgbClr val="334155"/>
                </a:solidFill>
              </a:rPr>
              <a:t>Every booking request is formulated as formal half-open interval I_i = [s_i, e_i) on venue V_k mapped to integer minutes t in [0, 1440).</a:t>
            </a:r>
          </a:p>
          <a:p>
            <a:pPr>
              <a:lnSpc>
                <a:spcPct val="115000"/>
              </a:lnSpc>
              <a:spcAft>
                <a:spcPts val="800"/>
              </a:spcAft>
              <a:defRPr sz="950">
                <a:latin typeface="Calibri"/>
              </a:defRPr>
            </a:pPr>
            <a:r>
              <a:rPr b="1">
                <a:solidFill>
                  <a:srgbClr val="0F172A"/>
                </a:solidFill>
              </a:rPr>
              <a:t>Bisection Search O(log N): </a:t>
            </a:r>
            <a:r>
              <a:rPr>
                <a:solidFill>
                  <a:srgbClr val="334155"/>
                </a:solidFill>
              </a:rPr>
              <a:t>Active confirmed venue bookings kept sorted by start time. Bisect locates insertion index in logarithmic O(log N) time.</a:t>
            </a:r>
          </a:p>
          <a:p>
            <a:pPr>
              <a:lnSpc>
                <a:spcPct val="115000"/>
              </a:lnSpc>
              <a:spcAft>
                <a:spcPts val="800"/>
              </a:spcAft>
              <a:defRPr sz="950">
                <a:latin typeface="Calibri"/>
              </a:defRPr>
            </a:pPr>
            <a:r>
              <a:rPr b="1">
                <a:solidFill>
                  <a:srgbClr val="0F172A"/>
                </a:solidFill>
              </a:rPr>
              <a:t>Neighbor-Only Verification: </a:t>
            </a:r>
            <a:r>
              <a:rPr>
                <a:solidFill>
                  <a:srgbClr val="334155"/>
                </a:solidFill>
              </a:rPr>
              <a:t>Collision evaluated strictly against adjacent predecessor and successor: (s_new &lt; e_ext) AND (e_new &gt; s_ext). Eliminates O(N) table scans.</a:t>
            </a:r>
          </a:p>
          <a:p>
            <a:pPr>
              <a:lnSpc>
                <a:spcPct val="115000"/>
              </a:lnSpc>
              <a:spcAft>
                <a:spcPts val="800"/>
              </a:spcAft>
              <a:defRPr sz="950">
                <a:latin typeface="Calibri"/>
              </a:defRPr>
            </a:pPr>
            <a:r>
              <a:rPr b="1">
                <a:solidFill>
                  <a:srgbClr val="0F172A"/>
                </a:solidFill>
              </a:rPr>
              <a:t>Batch Optimization (Greedy EFT): </a:t>
            </a:r>
            <a:r>
              <a:rPr>
                <a:solidFill>
                  <a:srgbClr val="334155"/>
                </a:solidFill>
              </a:rPr>
              <a:t>Competing reservation batches sorted by finish time (e_1 &lt;= e_2 &lt;= ... &lt;= e_M). Provably optimal throughput in O(M log M).</a:t>
            </a:r>
          </a:p>
        </p:txBody>
      </p:sp>
      <p:sp>
        <p:nvSpPr>
          <p:cNvPr id="10" name="Rectangle 9"/>
          <p:cNvSpPr/>
          <p:nvPr/>
        </p:nvSpPr>
        <p:spPr>
          <a:xfrm>
            <a:off x="4389120" y="1874519"/>
            <a:ext cx="3410712" cy="914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46720" y="1874519"/>
            <a:ext cx="3410712"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1000"/>
              </a:spcAft>
              <a:defRPr sz="1200" b="1">
                <a:solidFill>
                  <a:srgbClr val="1A365D"/>
                </a:solidFill>
                <a:latin typeface="Calibri"/>
              </a:defRPr>
            </a:pPr>
            <a:r>
              <a:t>3. Concurrency Control &amp; Database Schema</a:t>
            </a:r>
          </a:p>
          <a:p>
            <a:pPr>
              <a:lnSpc>
                <a:spcPct val="115000"/>
              </a:lnSpc>
              <a:spcAft>
                <a:spcPts val="800"/>
              </a:spcAft>
              <a:defRPr sz="950">
                <a:latin typeface="Calibri"/>
              </a:defRPr>
            </a:pPr>
            <a:r>
              <a:rPr b="1">
                <a:solidFill>
                  <a:srgbClr val="0F172A"/>
                </a:solidFill>
              </a:rPr>
              <a:t>ACID Transaction Envelope: </a:t>
            </a:r>
            <a:r>
              <a:rPr>
                <a:solidFill>
                  <a:srgbClr val="334155"/>
                </a:solidFill>
              </a:rPr>
              <a:t>Wraps availability read and write inside atomic transaction (BEGIN IMMEDIATE in SQLite; row locks in PostgreSQL) to eliminate TOCTOU race conditions.</a:t>
            </a:r>
          </a:p>
          <a:p>
            <a:pPr>
              <a:lnSpc>
                <a:spcPct val="115000"/>
              </a:lnSpc>
              <a:spcAft>
                <a:spcPts val="800"/>
              </a:spcAft>
              <a:defRPr sz="950">
                <a:latin typeface="Calibri"/>
              </a:defRPr>
            </a:pPr>
            <a:r>
              <a:rPr b="1">
                <a:solidFill>
                  <a:srgbClr val="0F172A"/>
                </a:solidFill>
              </a:rPr>
              <a:t>Venue Mutex Serialization: </a:t>
            </a:r>
            <a:r>
              <a:rPr>
                <a:solidFill>
                  <a:srgbClr val="334155"/>
                </a:solidFill>
              </a:rPr>
              <a:t>Simultaneous parallel submissions for the exact same hall serialize at the transaction lock. Only the first commit succeeds.</a:t>
            </a:r>
          </a:p>
          <a:p>
            <a:pPr>
              <a:lnSpc>
                <a:spcPct val="115000"/>
              </a:lnSpc>
              <a:spcAft>
                <a:spcPts val="800"/>
              </a:spcAft>
              <a:defRPr sz="950">
                <a:latin typeface="Calibri"/>
              </a:defRPr>
            </a:pPr>
            <a:r>
              <a:rPr b="1">
                <a:solidFill>
                  <a:srgbClr val="0F172A"/>
                </a:solidFill>
              </a:rPr>
              <a:t>Relational ER Model (6 Tables): </a:t>
            </a:r>
            <a:r>
              <a:rPr>
                <a:solidFill>
                  <a:srgbClr val="334155"/>
                </a:solidFill>
              </a:rPr>
              <a:t>organizers (1) -&gt; events (N) -&gt; event_sessions (N) [Cascade]. events (1) -&gt; registrations (N) -&gt; attendance (1). announcements (N).</a:t>
            </a:r>
          </a:p>
          <a:p>
            <a:pPr>
              <a:lnSpc>
                <a:spcPct val="115000"/>
              </a:lnSpc>
              <a:spcAft>
                <a:spcPts val="800"/>
              </a:spcAft>
              <a:defRPr sz="950">
                <a:latin typeface="Calibri"/>
              </a:defRPr>
            </a:pPr>
            <a:r>
              <a:rPr b="1">
                <a:solidFill>
                  <a:srgbClr val="0F172A"/>
                </a:solidFill>
              </a:rPr>
              <a:t>Integrity &amp; Idempotency: </a:t>
            </a:r>
            <a:r>
              <a:rPr>
                <a:solidFill>
                  <a:srgbClr val="334155"/>
                </a:solidFill>
              </a:rPr>
              <a:t>Unique constraints on EVF-2026 ticket passes, automated capacity counter triggers, and foreign key cascade deletion.</a:t>
            </a:r>
          </a:p>
        </p:txBody>
      </p:sp>
      <p:sp>
        <p:nvSpPr>
          <p:cNvPr id="12" name="Rectangle 11"/>
          <p:cNvSpPr/>
          <p:nvPr/>
        </p:nvSpPr>
        <p:spPr>
          <a:xfrm>
            <a:off x="8046720" y="1874519"/>
            <a:ext cx="3410712" cy="91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411480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ctr">
              <a:defRPr sz="950" b="1">
                <a:solidFill>
                  <a:srgbClr val="312E81"/>
                </a:solidFill>
                <a:latin typeface="Calibri"/>
              </a:defRPr>
            </a:pPr>
            <a:r>
              <a:t>SOFTWARE ENGINEERING LIFECYCLE | PHASE 3</a:t>
            </a:r>
          </a:p>
        </p:txBody>
      </p:sp>
      <p:sp>
        <p:nvSpPr>
          <p:cNvPr id="3" name="TextBox 2"/>
          <p:cNvSpPr txBox="1"/>
          <p:nvPr/>
        </p:nvSpPr>
        <p:spPr>
          <a:xfrm>
            <a:off x="731520" y="777240"/>
            <a:ext cx="10698480" cy="868680"/>
          </a:xfrm>
          <a:prstGeom prst="rect">
            <a:avLst/>
          </a:prstGeom>
          <a:noFill/>
        </p:spPr>
        <p:txBody>
          <a:bodyPr wrap="square" lIns="0" tIns="0" rIns="0" bIns="0">
            <a:spAutoFit/>
          </a:bodyPr>
          <a:lstStyle/>
          <a:p>
            <a:pPr>
              <a:defRPr sz="2200" b="1">
                <a:solidFill>
                  <a:srgbClr val="1A365D"/>
                </a:solidFill>
                <a:latin typeface="Calibri"/>
              </a:defRPr>
            </a:pPr>
            <a:r>
              <a:t>Module 3: Development Implementation &amp; Test Automation</a:t>
            </a:r>
          </a:p>
          <a:p>
            <a:pPr>
              <a:spcBef>
                <a:spcPts val="300"/>
              </a:spcBef>
              <a:defRPr sz="1200">
                <a:solidFill>
                  <a:srgbClr val="64748B"/>
                </a:solidFill>
                <a:latin typeface="Calibri"/>
              </a:defRPr>
            </a:pPr>
            <a:r>
              <a:t>Modular full-stack implementation and rigorous 28-suite Pytest verification matrix</a:t>
            </a:r>
          </a:p>
        </p:txBody>
      </p:sp>
      <p:sp>
        <p:nvSpPr>
          <p:cNvPr id="4" name="Rectangle 3"/>
          <p:cNvSpPr/>
          <p:nvPr/>
        </p:nvSpPr>
        <p:spPr>
          <a:xfrm>
            <a:off x="731520" y="169164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7315200" cy="274320"/>
          </a:xfrm>
          <a:prstGeom prst="rect">
            <a:avLst/>
          </a:prstGeom>
          <a:noFill/>
        </p:spPr>
        <p:txBody>
          <a:bodyPr wrap="square" lIns="0" tIns="0">
            <a:spAutoFit/>
          </a:bodyPr>
          <a:lstStyle/>
          <a:p>
            <a:pPr>
              <a:defRPr sz="900">
                <a:solidFill>
                  <a:srgbClr val="64748B"/>
                </a:solidFill>
                <a:latin typeface="Calibri"/>
              </a:defRPr>
            </a:pPr>
            <a:r>
              <a:t>CSA1021 - Software Engineering | Capstone Project 2026 | Saveetha School of Engineering (SIMATS)</a:t>
            </a:r>
          </a:p>
        </p:txBody>
      </p:sp>
      <p:sp>
        <p:nvSpPr>
          <p:cNvPr id="6" name="TextBox 5"/>
          <p:cNvSpPr txBox="1"/>
          <p:nvPr/>
        </p:nvSpPr>
        <p:spPr>
          <a:xfrm>
            <a:off x="9601200" y="6400800"/>
            <a:ext cx="1828800" cy="274320"/>
          </a:xfrm>
          <a:prstGeom prst="rect">
            <a:avLst/>
          </a:prstGeom>
          <a:noFill/>
        </p:spPr>
        <p:txBody>
          <a:bodyPr wrap="square" rIns="0" tIns="0">
            <a:spAutoFit/>
          </a:bodyPr>
          <a:lstStyle/>
          <a:p>
            <a:pPr algn="r">
              <a:defRPr sz="900">
                <a:solidFill>
                  <a:srgbClr val="64748B"/>
                </a:solidFill>
                <a:latin typeface="Calibri"/>
              </a:defRPr>
            </a:pPr>
            <a:r>
              <a:t>Slide 11 of 13</a:t>
            </a:r>
          </a:p>
        </p:txBody>
      </p:sp>
      <p:sp>
        <p:nvSpPr>
          <p:cNvPr id="7" name="Rounded Rectangle 6"/>
          <p:cNvSpPr/>
          <p:nvPr/>
        </p:nvSpPr>
        <p:spPr>
          <a:xfrm>
            <a:off x="731520" y="1874519"/>
            <a:ext cx="5239512"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64592" rIns="182880"/>
          <a:lstStyle/>
          <a:p>
            <a:pPr algn="ctr">
              <a:spcAft>
                <a:spcPts val="600"/>
              </a:spcAft>
              <a:defRPr sz="1250" b="1">
                <a:solidFill>
                  <a:srgbClr val="1A365D"/>
                </a:solidFill>
                <a:latin typeface="Calibri"/>
              </a:defRPr>
            </a:pPr>
            <a:r>
              <a:t>1. Full-Stack Implementation Stack</a:t>
            </a:r>
          </a:p>
          <a:p>
            <a:pPr>
              <a:lnSpc>
                <a:spcPct val="118000"/>
              </a:lnSpc>
              <a:defRPr sz="950">
                <a:solidFill>
                  <a:srgbClr val="334155"/>
                </a:solidFill>
                <a:latin typeface="Calibri"/>
              </a:defRPr>
            </a:pPr>
            <a:r>
              <a:t>FastAPI Asynchronous Engine: Type-safe APIRouters with Pydantic v2 schemas; connection pooling context manager (@contextmanager get_db()) with Write-Ahead Logging.</a:t>
            </a:r>
            <a:br/>
            <a:r>
              <a:t>React 18.3 Client: Single Page Application built with Vite 6.1; modular EventManager, TicketScannerModal, and AnalyticsOverview.</a:t>
            </a:r>
            <a:br/>
            <a:r>
              <a:t>Poppins Design Tokens: 6 calibrated weight classes (font-light 300 to font-black 900) mapped in Tailwind CSS for clear visual hierarchy.</a:t>
            </a:r>
            <a:br/>
            <a:r>
              <a:t>Dual-Mode Bridge: api.js dynamically switches between Supabase Cloud and local FastAPI.</a:t>
            </a:r>
          </a:p>
        </p:txBody>
      </p:sp>
      <p:sp>
        <p:nvSpPr>
          <p:cNvPr id="8" name="Rectangle 7"/>
          <p:cNvSpPr/>
          <p:nvPr/>
        </p:nvSpPr>
        <p:spPr>
          <a:xfrm>
            <a:off x="731520" y="1874519"/>
            <a:ext cx="109728" cy="2057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4114800"/>
            <a:ext cx="5239512"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64592" rIns="182880"/>
          <a:lstStyle/>
          <a:p>
            <a:pPr algn="ctr">
              <a:spcAft>
                <a:spcPts val="600"/>
              </a:spcAft>
              <a:defRPr sz="1250" b="1">
                <a:solidFill>
                  <a:srgbClr val="1A365D"/>
                </a:solidFill>
                <a:latin typeface="Calibri"/>
              </a:defRPr>
            </a:pPr>
            <a:r>
              <a:t>2. Algorithmic Collision Engine Implementation</a:t>
            </a:r>
          </a:p>
          <a:p>
            <a:pPr>
              <a:lnSpc>
                <a:spcPct val="118000"/>
              </a:lnSpc>
              <a:defRPr sz="950">
                <a:solidFill>
                  <a:srgbClr val="334155"/>
                </a:solidFill>
                <a:latin typeface="Calibri"/>
              </a:defRPr>
            </a:pPr>
            <a:r>
              <a:t>Time Serialization: Normalizes 12h/24h timestamps into discrete minutes t in [0, 1440).</a:t>
            </a:r>
            <a:br/>
            <a:r>
              <a:t>Bisection Neighbor Check:</a:t>
            </a:r>
            <a:br/>
            <a:r>
              <a:t>  idx = bisect.bisect_left([i[0] for i in intervals], s_new)</a:t>
            </a:r>
            <a:br/>
            <a:r>
              <a:t>  if idx &gt; 0 and intervals[idx-1][1] &gt; s_new: return False (Overlap Predecessor)</a:t>
            </a:r>
            <a:br/>
            <a:r>
              <a:t>  if idx &lt; len(intervals) and intervals[idx][0] &lt; e_new: return False (Overlap Successor)</a:t>
            </a:r>
            <a:br/>
            <a:r>
              <a:t>Nearest Slot Discovery: Iterates adjacent gaps [e_{k-1}, s_k) where (s_k - e_{k-1}) &gt;= dt to suggest immediate alternatives.</a:t>
            </a:r>
          </a:p>
        </p:txBody>
      </p:sp>
      <p:sp>
        <p:nvSpPr>
          <p:cNvPr id="10" name="Rectangle 9"/>
          <p:cNvSpPr/>
          <p:nvPr/>
        </p:nvSpPr>
        <p:spPr>
          <a:xfrm>
            <a:off x="731520" y="4114800"/>
            <a:ext cx="109728" cy="20574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874519"/>
            <a:ext cx="5239512"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64592" rIns="182880"/>
          <a:lstStyle/>
          <a:p>
            <a:pPr algn="ctr">
              <a:spcAft>
                <a:spcPts val="800"/>
              </a:spcAft>
              <a:defRPr sz="1300" b="1">
                <a:solidFill>
                  <a:srgbClr val="1A365D"/>
                </a:solidFill>
                <a:latin typeface="Calibri"/>
              </a:defRPr>
            </a:pPr>
            <a:r>
              <a:t>3. Automated Pytest Verification Matrix (28 Tests Passed)</a:t>
            </a:r>
          </a:p>
          <a:p>
            <a:pPr>
              <a:lnSpc>
                <a:spcPct val="115000"/>
              </a:lnSpc>
              <a:spcAft>
                <a:spcPts val="400"/>
              </a:spcAft>
              <a:defRPr sz="950">
                <a:latin typeface="Calibri"/>
              </a:defRPr>
            </a:pPr>
            <a:r>
              <a:rPr b="1">
                <a:solidFill>
                  <a:srgbClr val="0F172A"/>
                </a:solidFill>
              </a:rPr>
              <a:t>test_events.py (5 Tests | PASSED): </a:t>
            </a:r>
            <a:r>
              <a:rPr>
                <a:solidFill>
                  <a:srgbClr val="334155"/>
                </a:solidFill>
              </a:rPr>
              <a:t>Event creation, nested session ordering, update, search filters, and cascading relational deletion.</a:t>
            </a:r>
          </a:p>
          <a:p>
            <a:pPr>
              <a:lnSpc>
                <a:spcPct val="115000"/>
              </a:lnSpc>
              <a:spcAft>
                <a:spcPts val="400"/>
              </a:spcAft>
              <a:defRPr sz="950">
                <a:latin typeface="Calibri"/>
              </a:defRPr>
            </a:pPr>
            <a:r>
              <a:rPr b="1">
                <a:solidFill>
                  <a:srgbClr val="0F172A"/>
                </a:solidFill>
              </a:rPr>
              <a:t>test_registrations.py (5 Tests | PASSED): </a:t>
            </a:r>
            <a:r>
              <a:rPr>
                <a:solidFill>
                  <a:srgbClr val="334155"/>
                </a:solidFill>
              </a:rPr>
              <a:t>Successful registration, duplicate email rejection (409 Conflict), capacity cap overflow (400), and UTF-8 CSV roster exports.</a:t>
            </a:r>
          </a:p>
          <a:p>
            <a:pPr>
              <a:lnSpc>
                <a:spcPct val="115000"/>
              </a:lnSpc>
              <a:spcAft>
                <a:spcPts val="400"/>
              </a:spcAft>
              <a:defRPr sz="950">
                <a:latin typeface="Calibri"/>
              </a:defRPr>
            </a:pPr>
            <a:r>
              <a:rPr b="1">
                <a:solidFill>
                  <a:srgbClr val="0F172A"/>
                </a:solidFill>
              </a:rPr>
              <a:t>test_attendance.py (3 Tests | PASSED): </a:t>
            </a:r>
            <a:r>
              <a:rPr>
                <a:solidFill>
                  <a:srgbClr val="334155"/>
                </a:solidFill>
              </a:rPr>
              <a:t>EVF-2026 ticket code verification, automatic check-in toggle, and invalid status rejection.</a:t>
            </a:r>
          </a:p>
          <a:p>
            <a:pPr>
              <a:lnSpc>
                <a:spcPct val="115000"/>
              </a:lnSpc>
              <a:spcAft>
                <a:spcPts val="400"/>
              </a:spcAft>
              <a:defRPr sz="950">
                <a:latin typeface="Calibri"/>
              </a:defRPr>
            </a:pPr>
            <a:r>
              <a:rPr b="1">
                <a:solidFill>
                  <a:srgbClr val="0F172A"/>
                </a:solidFill>
              </a:rPr>
              <a:t>test_database.py (4 Tests | PASSED): </a:t>
            </a:r>
            <a:r>
              <a:rPr>
                <a:solidFill>
                  <a:srgbClr val="334155"/>
                </a:solidFill>
              </a:rPr>
              <a:t>Schema migration, WAL mode verification, foreign key constraints, and atomic rollback on simulated database faults.</a:t>
            </a:r>
          </a:p>
          <a:p>
            <a:pPr>
              <a:lnSpc>
                <a:spcPct val="115000"/>
              </a:lnSpc>
              <a:spcAft>
                <a:spcPts val="400"/>
              </a:spcAft>
              <a:defRPr sz="950">
                <a:latin typeface="Calibri"/>
              </a:defRPr>
            </a:pPr>
            <a:r>
              <a:rPr b="1">
                <a:solidFill>
                  <a:srgbClr val="0F172A"/>
                </a:solidFill>
              </a:rPr>
              <a:t>test_stats_announcements.py (5 Tests | PASSED): </a:t>
            </a:r>
            <a:r>
              <a:rPr>
                <a:solidFill>
                  <a:srgbClr val="334155"/>
                </a:solidFill>
              </a:rPr>
              <a:t>Platform KPI aggregations, department breakdown, category counts, and priority broadcast management.</a:t>
            </a:r>
          </a:p>
          <a:p>
            <a:pPr>
              <a:lnSpc>
                <a:spcPct val="115000"/>
              </a:lnSpc>
              <a:spcAft>
                <a:spcPts val="400"/>
              </a:spcAft>
              <a:defRPr sz="950">
                <a:latin typeface="Calibri"/>
              </a:defRPr>
            </a:pPr>
            <a:r>
              <a:rPr b="1">
                <a:solidFill>
                  <a:srgbClr val="0F172A"/>
                </a:solidFill>
              </a:rPr>
              <a:t>test_api.py &amp; test_health.py (6 Tests | PASSED): </a:t>
            </a:r>
            <a:r>
              <a:rPr>
                <a:solidFill>
                  <a:srgbClr val="334155"/>
                </a:solidFill>
              </a:rPr>
              <a:t>End-to-end integration workflow from event creation through ticket scanning; service liveness probe.</a:t>
            </a:r>
          </a:p>
          <a:p>
            <a:pPr>
              <a:spcBef>
                <a:spcPts val="800"/>
              </a:spcBef>
              <a:defRPr sz="1000" b="1">
                <a:solidFill>
                  <a:srgbClr val="10B981"/>
                </a:solidFill>
                <a:latin typeface="Calibri"/>
              </a:defRPr>
            </a:pPr>
            <a:r>
              <a:t>Execution Verdict: 28 Passed in 0.71s (100% Pass Rate, 0 Regressions, Clean Build)</a:t>
            </a:r>
          </a:p>
        </p:txBody>
      </p:sp>
      <p:sp>
        <p:nvSpPr>
          <p:cNvPr id="12" name="Rectangle 11"/>
          <p:cNvSpPr/>
          <p:nvPr/>
        </p:nvSpPr>
        <p:spPr>
          <a:xfrm>
            <a:off x="6217920" y="1874519"/>
            <a:ext cx="109728" cy="42976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411480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ctr">
              <a:defRPr sz="950" b="1">
                <a:solidFill>
                  <a:srgbClr val="312E81"/>
                </a:solidFill>
                <a:latin typeface="Calibri"/>
              </a:defRPr>
            </a:pPr>
            <a:r>
              <a:t>SOFTWARE ENGINEERING LIFECYCLE | PHASE 4</a:t>
            </a:r>
          </a:p>
        </p:txBody>
      </p:sp>
      <p:sp>
        <p:nvSpPr>
          <p:cNvPr id="3" name="TextBox 2"/>
          <p:cNvSpPr txBox="1"/>
          <p:nvPr/>
        </p:nvSpPr>
        <p:spPr>
          <a:xfrm>
            <a:off x="731520" y="777240"/>
            <a:ext cx="10698480" cy="868680"/>
          </a:xfrm>
          <a:prstGeom prst="rect">
            <a:avLst/>
          </a:prstGeom>
          <a:noFill/>
        </p:spPr>
        <p:txBody>
          <a:bodyPr wrap="square" lIns="0" tIns="0" rIns="0" bIns="0">
            <a:spAutoFit/>
          </a:bodyPr>
          <a:lstStyle/>
          <a:p>
            <a:pPr>
              <a:defRPr sz="2200" b="1">
                <a:solidFill>
                  <a:srgbClr val="1A365D"/>
                </a:solidFill>
                <a:latin typeface="Calibri"/>
              </a:defRPr>
            </a:pPr>
            <a:r>
              <a:t>Module 4: Deployment Architecture &amp; DevOps Engineering</a:t>
            </a:r>
          </a:p>
          <a:p>
            <a:pPr>
              <a:spcBef>
                <a:spcPts val="300"/>
              </a:spcBef>
              <a:defRPr sz="1200">
                <a:solidFill>
                  <a:srgbClr val="64748B"/>
                </a:solidFill>
                <a:latin typeface="Calibri"/>
              </a:defRPr>
            </a:pPr>
            <a:r>
              <a:t>Dual-mode deployment topology, CI/CD automation pipeline, and production security hardening</a:t>
            </a:r>
          </a:p>
        </p:txBody>
      </p:sp>
      <p:sp>
        <p:nvSpPr>
          <p:cNvPr id="4" name="Rectangle 3"/>
          <p:cNvSpPr/>
          <p:nvPr/>
        </p:nvSpPr>
        <p:spPr>
          <a:xfrm>
            <a:off x="731520" y="169164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7315200" cy="274320"/>
          </a:xfrm>
          <a:prstGeom prst="rect">
            <a:avLst/>
          </a:prstGeom>
          <a:noFill/>
        </p:spPr>
        <p:txBody>
          <a:bodyPr wrap="square" lIns="0" tIns="0">
            <a:spAutoFit/>
          </a:bodyPr>
          <a:lstStyle/>
          <a:p>
            <a:pPr>
              <a:defRPr sz="900">
                <a:solidFill>
                  <a:srgbClr val="64748B"/>
                </a:solidFill>
                <a:latin typeface="Calibri"/>
              </a:defRPr>
            </a:pPr>
            <a:r>
              <a:t>CSA1021 - Software Engineering | Capstone Project 2026 | Saveetha School of Engineering (SIMATS)</a:t>
            </a:r>
          </a:p>
        </p:txBody>
      </p:sp>
      <p:sp>
        <p:nvSpPr>
          <p:cNvPr id="6" name="TextBox 5"/>
          <p:cNvSpPr txBox="1"/>
          <p:nvPr/>
        </p:nvSpPr>
        <p:spPr>
          <a:xfrm>
            <a:off x="9601200" y="6400800"/>
            <a:ext cx="1828800" cy="274320"/>
          </a:xfrm>
          <a:prstGeom prst="rect">
            <a:avLst/>
          </a:prstGeom>
          <a:noFill/>
        </p:spPr>
        <p:txBody>
          <a:bodyPr wrap="square" rIns="0" tIns="0">
            <a:spAutoFit/>
          </a:bodyPr>
          <a:lstStyle/>
          <a:p>
            <a:pPr algn="r">
              <a:defRPr sz="900">
                <a:solidFill>
                  <a:srgbClr val="64748B"/>
                </a:solidFill>
                <a:latin typeface="Calibri"/>
              </a:defRPr>
            </a:pPr>
            <a:r>
              <a:t>Slide 12 of 13</a:t>
            </a:r>
          </a:p>
        </p:txBody>
      </p:sp>
      <p:sp>
        <p:nvSpPr>
          <p:cNvPr id="7" name="Rounded Rectangle 6"/>
          <p:cNvSpPr/>
          <p:nvPr/>
        </p:nvSpPr>
        <p:spPr>
          <a:xfrm>
            <a:off x="731520" y="1874519"/>
            <a:ext cx="3410712"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1000"/>
              </a:spcAft>
              <a:defRPr sz="1200" b="1">
                <a:solidFill>
                  <a:srgbClr val="1A365D"/>
                </a:solidFill>
                <a:latin typeface="Calibri"/>
              </a:defRPr>
            </a:pPr>
            <a:r>
              <a:t>1. Dual-Mode Deployment Topology</a:t>
            </a:r>
          </a:p>
          <a:p>
            <a:pPr>
              <a:lnSpc>
                <a:spcPct val="115000"/>
              </a:lnSpc>
              <a:spcAft>
                <a:spcPts val="800"/>
              </a:spcAft>
              <a:defRPr sz="950">
                <a:latin typeface="Calibri"/>
              </a:defRPr>
            </a:pPr>
            <a:r>
              <a:rPr b="1">
                <a:solidFill>
                  <a:srgbClr val="0F172A"/>
                </a:solidFill>
              </a:rPr>
              <a:t>Cloud Production Architecture: </a:t>
            </a:r>
            <a:r>
              <a:rPr>
                <a:solidFill>
                  <a:srgbClr val="334155"/>
                </a:solidFill>
              </a:rPr>
              <a:t>React SPA hosted on Vercel Edge Network with global CDN and SSL termination. Containerized FastAPI server on Render/Railway. Supabase Cloud PostgreSQL with automated backups.</a:t>
            </a:r>
          </a:p>
          <a:p>
            <a:pPr>
              <a:lnSpc>
                <a:spcPct val="115000"/>
              </a:lnSpc>
              <a:spcAft>
                <a:spcPts val="800"/>
              </a:spcAft>
              <a:defRPr sz="950">
                <a:latin typeface="Calibri"/>
              </a:defRPr>
            </a:pPr>
            <a:r>
              <a:rPr b="1">
                <a:solidFill>
                  <a:srgbClr val="0F172A"/>
                </a:solidFill>
              </a:rPr>
              <a:t>Local Campus Edge Mode: </a:t>
            </a:r>
            <a:r>
              <a:rPr>
                <a:solidFill>
                  <a:srgbClr val="334155"/>
                </a:solidFill>
              </a:rPr>
              <a:t>Single-command boot (npm run dev) executing concurrent FastAPI (port 5000) and Vite (port 5173). Zero external cloud dependencies.</a:t>
            </a:r>
          </a:p>
          <a:p>
            <a:pPr>
              <a:lnSpc>
                <a:spcPct val="115000"/>
              </a:lnSpc>
              <a:spcAft>
                <a:spcPts val="800"/>
              </a:spcAft>
              <a:defRPr sz="950">
                <a:latin typeface="Calibri"/>
              </a:defRPr>
            </a:pPr>
            <a:r>
              <a:rPr b="1">
                <a:solidFill>
                  <a:srgbClr val="0F172A"/>
                </a:solidFill>
              </a:rPr>
              <a:t>Air-Gapped Operation: </a:t>
            </a:r>
            <a:r>
              <a:rPr>
                <a:solidFill>
                  <a:srgbClr val="334155"/>
                </a:solidFill>
              </a:rPr>
              <a:t>Ideal for high-density campus symposiums or network-isolated computer science labs during 36-hour hackathons.</a:t>
            </a:r>
          </a:p>
          <a:p>
            <a:pPr>
              <a:lnSpc>
                <a:spcPct val="115000"/>
              </a:lnSpc>
              <a:spcAft>
                <a:spcPts val="800"/>
              </a:spcAft>
              <a:defRPr sz="950">
                <a:latin typeface="Calibri"/>
              </a:defRPr>
            </a:pPr>
            <a:r>
              <a:rPr b="1">
                <a:solidFill>
                  <a:srgbClr val="0F172A"/>
                </a:solidFill>
              </a:rPr>
              <a:t>Seamless Failover: </a:t>
            </a:r>
            <a:r>
              <a:rPr>
                <a:solidFill>
                  <a:srgbClr val="334155"/>
                </a:solidFill>
              </a:rPr>
              <a:t>Client api.js automatically detects cloud connectivity and routes queries without interface reload.</a:t>
            </a:r>
          </a:p>
        </p:txBody>
      </p:sp>
      <p:sp>
        <p:nvSpPr>
          <p:cNvPr id="8" name="Rectangle 7"/>
          <p:cNvSpPr/>
          <p:nvPr/>
        </p:nvSpPr>
        <p:spPr>
          <a:xfrm>
            <a:off x="731520" y="1874519"/>
            <a:ext cx="3410712"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9120" y="1874519"/>
            <a:ext cx="3410712"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1000"/>
              </a:spcAft>
              <a:defRPr sz="1200" b="1">
                <a:solidFill>
                  <a:srgbClr val="1A365D"/>
                </a:solidFill>
                <a:latin typeface="Calibri"/>
              </a:defRPr>
            </a:pPr>
            <a:r>
              <a:t>2. CI/CD Automation Pipeline</a:t>
            </a:r>
          </a:p>
          <a:p>
            <a:pPr>
              <a:lnSpc>
                <a:spcPct val="115000"/>
              </a:lnSpc>
              <a:spcAft>
                <a:spcPts val="800"/>
              </a:spcAft>
              <a:defRPr sz="950">
                <a:latin typeface="Calibri"/>
              </a:defRPr>
            </a:pPr>
            <a:r>
              <a:rPr b="1">
                <a:solidFill>
                  <a:srgbClr val="0F172A"/>
                </a:solidFill>
              </a:rPr>
              <a:t>Stage 1: Lint &amp; Code Quality: </a:t>
            </a:r>
            <a:r>
              <a:rPr>
                <a:solidFill>
                  <a:srgbClr val="334155"/>
                </a:solidFill>
              </a:rPr>
              <a:t>Triggered on push/PR to main. Flake8 and Black for Python backend; ESLint for React JSX components.</a:t>
            </a:r>
          </a:p>
          <a:p>
            <a:pPr>
              <a:lnSpc>
                <a:spcPct val="115000"/>
              </a:lnSpc>
              <a:spcAft>
                <a:spcPts val="800"/>
              </a:spcAft>
              <a:defRPr sz="950">
                <a:latin typeface="Calibri"/>
              </a:defRPr>
            </a:pPr>
            <a:r>
              <a:rPr b="1">
                <a:solidFill>
                  <a:srgbClr val="0F172A"/>
                </a:solidFill>
              </a:rPr>
              <a:t>Stage 2: Automated Pytest Suite: </a:t>
            </a:r>
            <a:r>
              <a:rPr>
                <a:solidFill>
                  <a:srgbClr val="334155"/>
                </a:solidFill>
              </a:rPr>
              <a:t>Executes all 28 automated test suites in isolated runner. Enforces 100% pass threshold prior to merge.</a:t>
            </a:r>
          </a:p>
          <a:p>
            <a:pPr>
              <a:lnSpc>
                <a:spcPct val="115000"/>
              </a:lnSpc>
              <a:spcAft>
                <a:spcPts val="800"/>
              </a:spcAft>
              <a:defRPr sz="950">
                <a:latin typeface="Calibri"/>
              </a:defRPr>
            </a:pPr>
            <a:r>
              <a:rPr b="1">
                <a:solidFill>
                  <a:srgbClr val="0F172A"/>
                </a:solidFill>
              </a:rPr>
              <a:t>Stage 3: Production Client Build: </a:t>
            </a:r>
            <a:r>
              <a:rPr>
                <a:solidFill>
                  <a:srgbClr val="334155"/>
                </a:solidFill>
              </a:rPr>
              <a:t>Compiles React production bundle via npm run build. Verifies asset minification and zero missing modules in dist/.</a:t>
            </a:r>
          </a:p>
          <a:p>
            <a:pPr>
              <a:lnSpc>
                <a:spcPct val="115000"/>
              </a:lnSpc>
              <a:spcAft>
                <a:spcPts val="800"/>
              </a:spcAft>
              <a:defRPr sz="950">
                <a:latin typeface="Calibri"/>
              </a:defRPr>
            </a:pPr>
            <a:r>
              <a:rPr b="1">
                <a:solidFill>
                  <a:srgbClr val="0F172A"/>
                </a:solidFill>
              </a:rPr>
              <a:t>Stage 4: Container Packaging &amp; Rollout: </a:t>
            </a:r>
            <a:r>
              <a:rPr>
                <a:solidFill>
                  <a:srgbClr val="334155"/>
                </a:solidFill>
              </a:rPr>
              <a:t>Multi-stage Docker build deployed with zero-downtime rolling update; automated rollback if /api/health probe fails.</a:t>
            </a:r>
          </a:p>
        </p:txBody>
      </p:sp>
      <p:sp>
        <p:nvSpPr>
          <p:cNvPr id="10" name="Rectangle 9"/>
          <p:cNvSpPr/>
          <p:nvPr/>
        </p:nvSpPr>
        <p:spPr>
          <a:xfrm>
            <a:off x="4389120" y="1874519"/>
            <a:ext cx="3410712" cy="914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46720" y="1874519"/>
            <a:ext cx="3410712"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1000"/>
              </a:spcAft>
              <a:defRPr sz="1200" b="1">
                <a:solidFill>
                  <a:srgbClr val="1A365D"/>
                </a:solidFill>
                <a:latin typeface="Calibri"/>
              </a:defRPr>
            </a:pPr>
            <a:r>
              <a:t>3. Operational Security &amp; Database Hardening</a:t>
            </a:r>
          </a:p>
          <a:p>
            <a:pPr>
              <a:lnSpc>
                <a:spcPct val="115000"/>
              </a:lnSpc>
              <a:spcAft>
                <a:spcPts val="800"/>
              </a:spcAft>
              <a:defRPr sz="950">
                <a:latin typeface="Calibri"/>
              </a:defRPr>
            </a:pPr>
            <a:r>
              <a:rPr b="1">
                <a:solidFill>
                  <a:srgbClr val="0F172A"/>
                </a:solidFill>
              </a:rPr>
              <a:t>Row-Level Security (RLS): </a:t>
            </a:r>
            <a:r>
              <a:rPr>
                <a:solidFill>
                  <a:srgbClr val="334155"/>
                </a:solidFill>
              </a:rPr>
              <a:t>Granular PostgreSQL RLS policies restrict table mutations. Public anon keys permitted read-only access for published events.</a:t>
            </a:r>
          </a:p>
          <a:p>
            <a:pPr>
              <a:lnSpc>
                <a:spcPct val="115000"/>
              </a:lnSpc>
              <a:spcAft>
                <a:spcPts val="800"/>
              </a:spcAft>
              <a:defRPr sz="950">
                <a:latin typeface="Calibri"/>
              </a:defRPr>
            </a:pPr>
            <a:r>
              <a:rPr b="1">
                <a:solidFill>
                  <a:srgbClr val="0F172A"/>
                </a:solidFill>
              </a:rPr>
              <a:t>SQLite WAL Concurrency Tuning: </a:t>
            </a:r>
            <a:r>
              <a:rPr>
                <a:solidFill>
                  <a:srgbClr val="334155"/>
                </a:solidFill>
              </a:rPr>
              <a:t>PRAGMA journal_mode = WAL enables concurrent readers without writer contention. PRAGMA busy_timeout = 5000 eliminates busy crashes.</a:t>
            </a:r>
          </a:p>
          <a:p>
            <a:pPr>
              <a:lnSpc>
                <a:spcPct val="115000"/>
              </a:lnSpc>
              <a:spcAft>
                <a:spcPts val="800"/>
              </a:spcAft>
              <a:defRPr sz="950">
                <a:latin typeface="Calibri"/>
              </a:defRPr>
            </a:pPr>
            <a:r>
              <a:rPr b="1">
                <a:solidFill>
                  <a:srgbClr val="0F172A"/>
                </a:solidFill>
              </a:rPr>
              <a:t>Environment Segregation: </a:t>
            </a:r>
            <a:r>
              <a:rPr>
                <a:solidFill>
                  <a:srgbClr val="334155"/>
                </a:solidFill>
              </a:rPr>
              <a:t>Strict .env isolation separates public client keys (VITE_SUPABASE_ANON_KEY) from backend secrets. CORS origin whitelisting.</a:t>
            </a:r>
          </a:p>
          <a:p>
            <a:pPr>
              <a:lnSpc>
                <a:spcPct val="115000"/>
              </a:lnSpc>
              <a:spcAft>
                <a:spcPts val="800"/>
              </a:spcAft>
              <a:defRPr sz="950">
                <a:latin typeface="Calibri"/>
              </a:defRPr>
            </a:pPr>
            <a:r>
              <a:rPr b="1">
                <a:solidFill>
                  <a:srgbClr val="0F172A"/>
                </a:solidFill>
              </a:rPr>
              <a:t>Health Probes &amp; Telemetry: </a:t>
            </a:r>
            <a:r>
              <a:rPr>
                <a:solidFill>
                  <a:srgbClr val="334155"/>
                </a:solidFill>
              </a:rPr>
              <a:t>GET /api/health continuously monitors database responsiveness and memory consumption for proactive operations.</a:t>
            </a:r>
          </a:p>
        </p:txBody>
      </p:sp>
      <p:sp>
        <p:nvSpPr>
          <p:cNvPr id="12" name="Rectangle 11"/>
          <p:cNvSpPr/>
          <p:nvPr/>
        </p:nvSpPr>
        <p:spPr>
          <a:xfrm>
            <a:off x="8046720" y="1874519"/>
            <a:ext cx="3410712" cy="91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4114800" cy="2926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a:lstStyle/>
          <a:p>
            <a:pPr algn="ctr">
              <a:defRPr sz="950" b="1">
                <a:solidFill>
                  <a:srgbClr val="312E81"/>
                </a:solidFill>
                <a:latin typeface="Calibri"/>
              </a:defRPr>
            </a:pPr>
            <a:r>
              <a:t>SOFTWARE ENGINEERING LIFECYCLE | PHASE 5</a:t>
            </a:r>
          </a:p>
        </p:txBody>
      </p:sp>
      <p:sp>
        <p:nvSpPr>
          <p:cNvPr id="3" name="TextBox 2"/>
          <p:cNvSpPr txBox="1"/>
          <p:nvPr/>
        </p:nvSpPr>
        <p:spPr>
          <a:xfrm>
            <a:off x="731520" y="777240"/>
            <a:ext cx="10698480" cy="868680"/>
          </a:xfrm>
          <a:prstGeom prst="rect">
            <a:avLst/>
          </a:prstGeom>
          <a:noFill/>
        </p:spPr>
        <p:txBody>
          <a:bodyPr wrap="square" lIns="0" tIns="0" rIns="0" bIns="0">
            <a:spAutoFit/>
          </a:bodyPr>
          <a:lstStyle/>
          <a:p>
            <a:pPr>
              <a:defRPr sz="2200" b="1">
                <a:solidFill>
                  <a:srgbClr val="1A365D"/>
                </a:solidFill>
                <a:latin typeface="Calibri"/>
              </a:defRPr>
            </a:pPr>
            <a:r>
              <a:t>Module 5: Performance Analysis &amp; Concurrency Benchmarks</a:t>
            </a:r>
          </a:p>
          <a:p>
            <a:pPr>
              <a:spcBef>
                <a:spcPts val="300"/>
              </a:spcBef>
              <a:defRPr sz="1200">
                <a:solidFill>
                  <a:srgbClr val="64748B"/>
                </a:solidFill>
                <a:latin typeface="Calibri"/>
              </a:defRPr>
            </a:pPr>
            <a:r>
              <a:t>Computational complexity comparisons, empirical latency profiling, and stress-tested race condition mitigation</a:t>
            </a:r>
          </a:p>
        </p:txBody>
      </p:sp>
      <p:sp>
        <p:nvSpPr>
          <p:cNvPr id="4" name="Rectangle 3"/>
          <p:cNvSpPr/>
          <p:nvPr/>
        </p:nvSpPr>
        <p:spPr>
          <a:xfrm>
            <a:off x="731520" y="1691640"/>
            <a:ext cx="10725912"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7315200" cy="274320"/>
          </a:xfrm>
          <a:prstGeom prst="rect">
            <a:avLst/>
          </a:prstGeom>
          <a:noFill/>
        </p:spPr>
        <p:txBody>
          <a:bodyPr wrap="square" lIns="0" tIns="0">
            <a:spAutoFit/>
          </a:bodyPr>
          <a:lstStyle/>
          <a:p>
            <a:pPr>
              <a:defRPr sz="900">
                <a:solidFill>
                  <a:srgbClr val="64748B"/>
                </a:solidFill>
                <a:latin typeface="Calibri"/>
              </a:defRPr>
            </a:pPr>
            <a:r>
              <a:t>CSA1021 - Software Engineering | Capstone Project 2026 | Saveetha School of Engineering (SIMATS)</a:t>
            </a:r>
          </a:p>
        </p:txBody>
      </p:sp>
      <p:sp>
        <p:nvSpPr>
          <p:cNvPr id="6" name="TextBox 5"/>
          <p:cNvSpPr txBox="1"/>
          <p:nvPr/>
        </p:nvSpPr>
        <p:spPr>
          <a:xfrm>
            <a:off x="9601200" y="6400800"/>
            <a:ext cx="1828800" cy="274320"/>
          </a:xfrm>
          <a:prstGeom prst="rect">
            <a:avLst/>
          </a:prstGeom>
          <a:noFill/>
        </p:spPr>
        <p:txBody>
          <a:bodyPr wrap="square" rIns="0" tIns="0">
            <a:spAutoFit/>
          </a:bodyPr>
          <a:lstStyle/>
          <a:p>
            <a:pPr algn="r">
              <a:defRPr sz="900">
                <a:solidFill>
                  <a:srgbClr val="64748B"/>
                </a:solidFill>
                <a:latin typeface="Calibri"/>
              </a:defRPr>
            </a:pPr>
            <a:r>
              <a:t>Slide 13 of 13</a:t>
            </a:r>
          </a:p>
        </p:txBody>
      </p:sp>
      <p:graphicFrame>
        <p:nvGraphicFramePr>
          <p:cNvPr id="7" name="Table 6"/>
          <p:cNvGraphicFramePr>
            <a:graphicFrameLocks noGrp="1"/>
          </p:cNvGraphicFramePr>
          <p:nvPr/>
        </p:nvGraphicFramePr>
        <p:xfrm>
          <a:off x="731520" y="1874519"/>
          <a:ext cx="10725912" cy="1965960"/>
        </p:xfrm>
        <a:graphic>
          <a:graphicData uri="http://schemas.openxmlformats.org/drawingml/2006/table">
            <a:tbl>
              <a:tblPr firstRow="1" bandRow="1">
                <a:tableStyleId>{5C22544A-7EE6-4342-B048-85BDC9FD1C3A}</a:tableStyleId>
              </a:tblPr>
              <a:tblGrid>
                <a:gridCol w="2560320"/>
                <a:gridCol w="2103120"/>
                <a:gridCol w="2194560"/>
                <a:gridCol w="1920240"/>
                <a:gridCol w="1947672"/>
              </a:tblGrid>
              <a:tr h="393192">
                <a:tc>
                  <a:txBody>
                    <a:bodyPr wrap="square" tIns="54864"/>
                    <a:lstStyle/>
                    <a:p>
                      <a:pPr>
                        <a:defRPr sz="1000" b="1">
                          <a:solidFill>
                            <a:srgbClr val="FFFFFF"/>
                          </a:solidFill>
                          <a:latin typeface="Calibri"/>
                        </a:defRPr>
                      </a:pPr>
                      <a:r>
                        <a:t>Scheduling Methodology</a:t>
                      </a:r>
                    </a:p>
                  </a:txBody>
                  <a:tcPr>
                    <a:solidFill>
                      <a:srgbClr val="1A365D"/>
                    </a:solidFill>
                  </a:tcPr>
                </a:tc>
                <a:tc>
                  <a:txBody>
                    <a:bodyPr wrap="square" tIns="54864"/>
                    <a:lstStyle/>
                    <a:p>
                      <a:pPr>
                        <a:defRPr sz="1000" b="1">
                          <a:solidFill>
                            <a:srgbClr val="FFFFFF"/>
                          </a:solidFill>
                          <a:latin typeface="Calibri"/>
                        </a:defRPr>
                      </a:pPr>
                      <a:r>
                        <a:t>Single Collision Check</a:t>
                      </a:r>
                    </a:p>
                  </a:txBody>
                  <a:tcPr>
                    <a:solidFill>
                      <a:srgbClr val="1A365D"/>
                    </a:solidFill>
                  </a:tcPr>
                </a:tc>
                <a:tc>
                  <a:txBody>
                    <a:bodyPr wrap="square" tIns="54864"/>
                    <a:lstStyle/>
                    <a:p>
                      <a:pPr>
                        <a:defRPr sz="1000" b="1">
                          <a:solidFill>
                            <a:srgbClr val="FFFFFF"/>
                          </a:solidFill>
                          <a:latin typeface="Calibri"/>
                        </a:defRPr>
                      </a:pPr>
                      <a:r>
                        <a:t>Batch Optimization</a:t>
                      </a:r>
                    </a:p>
                  </a:txBody>
                  <a:tcPr>
                    <a:solidFill>
                      <a:srgbClr val="1A365D"/>
                    </a:solidFill>
                  </a:tcPr>
                </a:tc>
                <a:tc>
                  <a:txBody>
                    <a:bodyPr wrap="square" tIns="54864"/>
                    <a:lstStyle/>
                    <a:p>
                      <a:pPr>
                        <a:defRPr sz="1000" b="1">
                          <a:solidFill>
                            <a:srgbClr val="FFFFFF"/>
                          </a:solidFill>
                          <a:latin typeface="Calibri"/>
                        </a:defRPr>
                      </a:pPr>
                      <a:r>
                        <a:t>Time for 10,000 Ops</a:t>
                      </a:r>
                    </a:p>
                  </a:txBody>
                  <a:tcPr>
                    <a:solidFill>
                      <a:srgbClr val="1A365D"/>
                    </a:solidFill>
                  </a:tcPr>
                </a:tc>
                <a:tc>
                  <a:txBody>
                    <a:bodyPr wrap="square" tIns="54864"/>
                    <a:lstStyle/>
                    <a:p>
                      <a:pPr>
                        <a:defRPr sz="1000" b="1">
                          <a:solidFill>
                            <a:srgbClr val="FFFFFF"/>
                          </a:solidFill>
                          <a:latin typeface="Calibri"/>
                        </a:defRPr>
                      </a:pPr>
                      <a:r>
                        <a:t>TOCTOU Race Safety</a:t>
                      </a:r>
                    </a:p>
                  </a:txBody>
                  <a:tcPr>
                    <a:solidFill>
                      <a:srgbClr val="1A365D"/>
                    </a:solidFill>
                  </a:tcPr>
                </a:tc>
              </a:tr>
              <a:tr h="393192">
                <a:tc>
                  <a:txBody>
                    <a:bodyPr wrap="square"/>
                    <a:lstStyle/>
                    <a:p>
                      <a:pPr>
                        <a:defRPr sz="900" b="1">
                          <a:solidFill>
                            <a:srgbClr val="0F172A"/>
                          </a:solidFill>
                          <a:latin typeface="Calibri"/>
                        </a:defRPr>
                      </a:pPr>
                      <a:r>
                        <a:t>Manual Spreadsheets / Paper Forms</a:t>
                      </a:r>
                    </a:p>
                  </a:txBody>
                  <a:tcPr>
                    <a:solidFill>
                      <a:srgbClr val="F8FAFC"/>
                    </a:solidFill>
                  </a:tcPr>
                </a:tc>
                <a:tc>
                  <a:txBody>
                    <a:bodyPr wrap="square"/>
                    <a:lstStyle/>
                    <a:p>
                      <a:pPr>
                        <a:defRPr sz="900">
                          <a:solidFill>
                            <a:srgbClr val="334155"/>
                          </a:solidFill>
                          <a:latin typeface="Calibri"/>
                        </a:defRPr>
                      </a:pPr>
                      <a:r>
                        <a:t>O(N) (Manual lookup)</a:t>
                      </a:r>
                    </a:p>
                  </a:txBody>
                  <a:tcPr>
                    <a:solidFill>
                      <a:srgbClr val="F8FAFC"/>
                    </a:solidFill>
                  </a:tcPr>
                </a:tc>
                <a:tc>
                  <a:txBody>
                    <a:bodyPr wrap="square"/>
                    <a:lstStyle/>
                    <a:p>
                      <a:pPr>
                        <a:defRPr sz="900">
                          <a:solidFill>
                            <a:srgbClr val="334155"/>
                          </a:solidFill>
                          <a:latin typeface="Calibri"/>
                        </a:defRPr>
                      </a:pPr>
                      <a:r>
                        <a:t>Unbounded (Manual)</a:t>
                      </a:r>
                    </a:p>
                  </a:txBody>
                  <a:tcPr>
                    <a:solidFill>
                      <a:srgbClr val="F8FAFC"/>
                    </a:solidFill>
                  </a:tcPr>
                </a:tc>
                <a:tc>
                  <a:txBody>
                    <a:bodyPr wrap="square"/>
                    <a:lstStyle/>
                    <a:p>
                      <a:pPr>
                        <a:defRPr sz="900">
                          <a:solidFill>
                            <a:srgbClr val="334155"/>
                          </a:solidFill>
                          <a:latin typeface="Calibri"/>
                        </a:defRPr>
                      </a:pPr>
                      <a:r>
                        <a:t>Minutes to Days</a:t>
                      </a:r>
                    </a:p>
                  </a:txBody>
                  <a:tcPr>
                    <a:solidFill>
                      <a:srgbClr val="F8FAFC"/>
                    </a:solidFill>
                  </a:tcPr>
                </a:tc>
                <a:tc>
                  <a:txBody>
                    <a:bodyPr wrap="square"/>
                    <a:lstStyle/>
                    <a:p>
                      <a:pPr>
                        <a:defRPr sz="900">
                          <a:solidFill>
                            <a:srgbClr val="334155"/>
                          </a:solidFill>
                          <a:latin typeface="Calibri"/>
                        </a:defRPr>
                      </a:pPr>
                      <a:r>
                        <a:t>Zero (High Collision)</a:t>
                      </a:r>
                    </a:p>
                  </a:txBody>
                  <a:tcPr>
                    <a:solidFill>
                      <a:srgbClr val="F8FAFC"/>
                    </a:solidFill>
                  </a:tcPr>
                </a:tc>
              </a:tr>
              <a:tr h="393192">
                <a:tc>
                  <a:txBody>
                    <a:bodyPr wrap="square"/>
                    <a:lstStyle/>
                    <a:p>
                      <a:pPr>
                        <a:defRPr sz="900" b="1">
                          <a:solidFill>
                            <a:srgbClr val="0F172A"/>
                          </a:solidFill>
                          <a:latin typeface="Calibri"/>
                        </a:defRPr>
                      </a:pPr>
                      <a:r>
                        <a:t>Naive SQL Linear Scan</a:t>
                      </a:r>
                    </a:p>
                  </a:txBody>
                  <a:tcPr>
                    <a:solidFill>
                      <a:srgbClr val="FFFFFF"/>
                    </a:solidFill>
                  </a:tcPr>
                </a:tc>
                <a:tc>
                  <a:txBody>
                    <a:bodyPr wrap="square"/>
                    <a:lstStyle/>
                    <a:p>
                      <a:pPr>
                        <a:defRPr sz="900">
                          <a:solidFill>
                            <a:srgbClr val="334155"/>
                          </a:solidFill>
                          <a:latin typeface="Calibri"/>
                        </a:defRPr>
                      </a:pPr>
                      <a:r>
                        <a:t>O(N) table scan</a:t>
                      </a:r>
                    </a:p>
                  </a:txBody>
                  <a:tcPr>
                    <a:solidFill>
                      <a:srgbClr val="FFFFFF"/>
                    </a:solidFill>
                  </a:tcPr>
                </a:tc>
                <a:tc>
                  <a:txBody>
                    <a:bodyPr wrap="square"/>
                    <a:lstStyle/>
                    <a:p>
                      <a:pPr>
                        <a:defRPr sz="900">
                          <a:solidFill>
                            <a:srgbClr val="334155"/>
                          </a:solidFill>
                          <a:latin typeface="Calibri"/>
                        </a:defRPr>
                      </a:pPr>
                      <a:r>
                        <a:t>O(N^2) pairwise compare</a:t>
                      </a:r>
                    </a:p>
                  </a:txBody>
                  <a:tcPr>
                    <a:solidFill>
                      <a:srgbClr val="FFFFFF"/>
                    </a:solidFill>
                  </a:tcPr>
                </a:tc>
                <a:tc>
                  <a:txBody>
                    <a:bodyPr wrap="square"/>
                    <a:lstStyle/>
                    <a:p>
                      <a:pPr>
                        <a:defRPr sz="900">
                          <a:solidFill>
                            <a:srgbClr val="334155"/>
                          </a:solidFill>
                          <a:latin typeface="Calibri"/>
                        </a:defRPr>
                      </a:pPr>
                      <a:r>
                        <a:t>42.3 ms</a:t>
                      </a:r>
                    </a:p>
                  </a:txBody>
                  <a:tcPr>
                    <a:solidFill>
                      <a:srgbClr val="FFFFFF"/>
                    </a:solidFill>
                  </a:tcPr>
                </a:tc>
                <a:tc>
                  <a:txBody>
                    <a:bodyPr wrap="square"/>
                    <a:lstStyle/>
                    <a:p>
                      <a:pPr>
                        <a:defRPr sz="900">
                          <a:solidFill>
                            <a:srgbClr val="334155"/>
                          </a:solidFill>
                          <a:latin typeface="Calibri"/>
                        </a:defRPr>
                      </a:pPr>
                      <a:r>
                        <a:t>Vulnerable (Interleaved)</a:t>
                      </a:r>
                    </a:p>
                  </a:txBody>
                  <a:tcPr>
                    <a:solidFill>
                      <a:srgbClr val="FFFFFF"/>
                    </a:solidFill>
                  </a:tcPr>
                </a:tc>
              </a:tr>
              <a:tr h="393192">
                <a:tc>
                  <a:txBody>
                    <a:bodyPr wrap="square"/>
                    <a:lstStyle/>
                    <a:p>
                      <a:pPr>
                        <a:defRPr sz="900" b="1">
                          <a:solidFill>
                            <a:srgbClr val="0F172A"/>
                          </a:solidFill>
                          <a:latin typeface="Calibri"/>
                        </a:defRPr>
                      </a:pPr>
                      <a:r>
                        <a:t>Genetic Algorithm (Literature 2025)</a:t>
                      </a:r>
                    </a:p>
                  </a:txBody>
                  <a:tcPr>
                    <a:solidFill>
                      <a:srgbClr val="F8FAFC"/>
                    </a:solidFill>
                  </a:tcPr>
                </a:tc>
                <a:tc>
                  <a:txBody>
                    <a:bodyPr wrap="square"/>
                    <a:lstStyle/>
                    <a:p>
                      <a:pPr>
                        <a:defRPr sz="900">
                          <a:solidFill>
                            <a:srgbClr val="334155"/>
                          </a:solidFill>
                          <a:latin typeface="Calibri"/>
                        </a:defRPr>
                      </a:pPr>
                      <a:r>
                        <a:t>O(G · P · C) stochastic</a:t>
                      </a:r>
                    </a:p>
                  </a:txBody>
                  <a:tcPr>
                    <a:solidFill>
                      <a:srgbClr val="F8FAFC"/>
                    </a:solidFill>
                  </a:tcPr>
                </a:tc>
                <a:tc>
                  <a:txBody>
                    <a:bodyPr wrap="square"/>
                    <a:lstStyle/>
                    <a:p>
                      <a:pPr>
                        <a:defRPr sz="900">
                          <a:solidFill>
                            <a:srgbClr val="334155"/>
                          </a:solidFill>
                          <a:latin typeface="Calibri"/>
                        </a:defRPr>
                      </a:pPr>
                      <a:r>
                        <a:t>O(G · P · C) heuristic</a:t>
                      </a:r>
                    </a:p>
                  </a:txBody>
                  <a:tcPr>
                    <a:solidFill>
                      <a:srgbClr val="F8FAFC"/>
                    </a:solidFill>
                  </a:tcPr>
                </a:tc>
                <a:tc>
                  <a:txBody>
                    <a:bodyPr wrap="square"/>
                    <a:lstStyle/>
                    <a:p>
                      <a:pPr>
                        <a:defRPr sz="900">
                          <a:solidFill>
                            <a:srgbClr val="334155"/>
                          </a:solidFill>
                          <a:latin typeface="Calibri"/>
                        </a:defRPr>
                      </a:pPr>
                      <a:r>
                        <a:t>~2,400 ms</a:t>
                      </a:r>
                    </a:p>
                  </a:txBody>
                  <a:tcPr>
                    <a:solidFill>
                      <a:srgbClr val="F8FAFC"/>
                    </a:solidFill>
                  </a:tcPr>
                </a:tc>
                <a:tc>
                  <a:txBody>
                    <a:bodyPr wrap="square"/>
                    <a:lstStyle/>
                    <a:p>
                      <a:pPr>
                        <a:defRPr sz="900">
                          <a:solidFill>
                            <a:srgbClr val="334155"/>
                          </a:solidFill>
                          <a:latin typeface="Calibri"/>
                        </a:defRPr>
                      </a:pPr>
                      <a:r>
                        <a:t>Vulnerable (High Latency)</a:t>
                      </a:r>
                    </a:p>
                  </a:txBody>
                  <a:tcPr>
                    <a:solidFill>
                      <a:srgbClr val="F8FAFC"/>
                    </a:solidFill>
                  </a:tcPr>
                </a:tc>
              </a:tr>
              <a:tr h="393192">
                <a:tc>
                  <a:txBody>
                    <a:bodyPr wrap="square"/>
                    <a:lstStyle/>
                    <a:p>
                      <a:pPr>
                        <a:defRPr sz="900" b="1">
                          <a:solidFill>
                            <a:srgbClr val="312E81"/>
                          </a:solidFill>
                          <a:latin typeface="Calibri"/>
                        </a:defRPr>
                      </a:pPr>
                      <a:r>
                        <a:t>EventFlow Interval Engine (Proposed)</a:t>
                      </a:r>
                    </a:p>
                  </a:txBody>
                  <a:tcPr>
                    <a:solidFill>
                      <a:srgbClr val="EEF2FF"/>
                    </a:solidFill>
                  </a:tcPr>
                </a:tc>
                <a:tc>
                  <a:txBody>
                    <a:bodyPr wrap="square"/>
                    <a:lstStyle/>
                    <a:p>
                      <a:pPr>
                        <a:defRPr sz="900" b="1">
                          <a:solidFill>
                            <a:srgbClr val="312E81"/>
                          </a:solidFill>
                          <a:latin typeface="Calibri"/>
                        </a:defRPr>
                      </a:pPr>
                      <a:r>
                        <a:t>O(log N) bisection</a:t>
                      </a:r>
                    </a:p>
                  </a:txBody>
                  <a:tcPr>
                    <a:solidFill>
                      <a:srgbClr val="EEF2FF"/>
                    </a:solidFill>
                  </a:tcPr>
                </a:tc>
                <a:tc>
                  <a:txBody>
                    <a:bodyPr wrap="square"/>
                    <a:lstStyle/>
                    <a:p>
                      <a:pPr>
                        <a:defRPr sz="900" b="1">
                          <a:solidFill>
                            <a:srgbClr val="312E81"/>
                          </a:solidFill>
                          <a:latin typeface="Calibri"/>
                        </a:defRPr>
                      </a:pPr>
                      <a:r>
                        <a:t>O(M log M) Greedy EFT</a:t>
                      </a:r>
                    </a:p>
                  </a:txBody>
                  <a:tcPr>
                    <a:solidFill>
                      <a:srgbClr val="EEF2FF"/>
                    </a:solidFill>
                  </a:tcPr>
                </a:tc>
                <a:tc>
                  <a:txBody>
                    <a:bodyPr wrap="square"/>
                    <a:lstStyle/>
                    <a:p>
                      <a:pPr>
                        <a:defRPr sz="900" b="1">
                          <a:solidFill>
                            <a:srgbClr val="312E81"/>
                          </a:solidFill>
                          <a:latin typeface="Calibri"/>
                        </a:defRPr>
                      </a:pPr>
                      <a:r>
                        <a:t>1.42 ms</a:t>
                      </a:r>
                    </a:p>
                  </a:txBody>
                  <a:tcPr>
                    <a:solidFill>
                      <a:srgbClr val="EEF2FF"/>
                    </a:solidFill>
                  </a:tcPr>
                </a:tc>
                <a:tc>
                  <a:txBody>
                    <a:bodyPr wrap="square"/>
                    <a:lstStyle/>
                    <a:p>
                      <a:pPr>
                        <a:defRPr sz="900" b="1">
                          <a:solidFill>
                            <a:srgbClr val="312E81"/>
                          </a:solidFill>
                          <a:latin typeface="Calibri"/>
                        </a:defRPr>
                      </a:pPr>
                      <a:r>
                        <a:t>100% Safe (Atomic Lock)</a:t>
                      </a:r>
                    </a:p>
                  </a:txBody>
                  <a:tcPr>
                    <a:solidFill>
                      <a:srgbClr val="EEF2FF"/>
                    </a:solidFill>
                  </a:tcPr>
                </a:tc>
              </a:tr>
            </a:tbl>
          </a:graphicData>
        </a:graphic>
      </p:graphicFrame>
      <p:sp>
        <p:nvSpPr>
          <p:cNvPr id="8" name="Rounded Rectangle 7"/>
          <p:cNvSpPr/>
          <p:nvPr/>
        </p:nvSpPr>
        <p:spPr>
          <a:xfrm>
            <a:off x="731520" y="3977639"/>
            <a:ext cx="3410712"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a:lstStyle/>
          <a:p>
            <a:pPr algn="ctr">
              <a:spcAft>
                <a:spcPts val="600"/>
              </a:spcAft>
              <a:defRPr sz="1150" b="1">
                <a:solidFill>
                  <a:srgbClr val="1A365D"/>
                </a:solidFill>
                <a:latin typeface="Calibri"/>
              </a:defRPr>
            </a:pPr>
            <a:r>
              <a:t>1. Empirical Latency Profiling</a:t>
            </a:r>
          </a:p>
          <a:p>
            <a:pPr>
              <a:lnSpc>
                <a:spcPct val="118000"/>
              </a:lnSpc>
              <a:defRPr sz="919">
                <a:solidFill>
                  <a:srgbClr val="334155"/>
                </a:solidFill>
                <a:latin typeface="Calibri"/>
              </a:defRPr>
            </a:pPr>
            <a:r>
              <a:t>Collision Evaluation Latency: 1.42 ms average in-memory binary search check.</a:t>
            </a:r>
            <a:br/>
            <a:r>
              <a:t>HTTP API Response (p95): 18.6 ms (24.1 ms p99) under active load.</a:t>
            </a:r>
            <a:br/>
            <a:r>
              <a:t>Database Commit Latency: 3.8 ms (SQLite WAL) / 12.4 ms (Supabase Cloud).</a:t>
            </a:r>
            <a:br/>
            <a:r>
              <a:t>Client Ticket QR Render: 8.2 ms instant canvas generation.</a:t>
            </a:r>
            <a:br/>
            <a:r>
              <a:t>CSV Roster Export: 14.5 ms to format and stream 1,000 attendee records.</a:t>
            </a:r>
          </a:p>
        </p:txBody>
      </p:sp>
      <p:sp>
        <p:nvSpPr>
          <p:cNvPr id="9" name="Rectangle 8"/>
          <p:cNvSpPr/>
          <p:nvPr/>
        </p:nvSpPr>
        <p:spPr>
          <a:xfrm>
            <a:off x="731520" y="3977639"/>
            <a:ext cx="3410712"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89120" y="3977639"/>
            <a:ext cx="3410712"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a:lstStyle/>
          <a:p>
            <a:pPr algn="ctr">
              <a:spcAft>
                <a:spcPts val="600"/>
              </a:spcAft>
              <a:defRPr sz="1150" b="1">
                <a:solidFill>
                  <a:srgbClr val="1A365D"/>
                </a:solidFill>
                <a:latin typeface="Calibri"/>
              </a:defRPr>
            </a:pPr>
            <a:r>
              <a:t>2. High-Concurrency Stress Testing</a:t>
            </a:r>
          </a:p>
          <a:p>
            <a:pPr>
              <a:lnSpc>
                <a:spcPct val="118000"/>
              </a:lnSpc>
              <a:defRPr sz="919">
                <a:solidFill>
                  <a:srgbClr val="334155"/>
                </a:solidFill>
                <a:latin typeface="Calibri"/>
              </a:defRPr>
            </a:pPr>
            <a:r>
              <a:t>Stress Scenario: 50 concurrent virtual threads simultaneously requesting the identical venue slot [10:00, 14:00).</a:t>
            </a:r>
            <a:br/>
            <a:r>
              <a:t>Naive Unsynchronized Architecture: Admitted 14 double-bookings (28% failure rate) via TOCTOU race conditions.</a:t>
            </a:r>
            <a:br/>
            <a:r>
              <a:t>EventFlow Atomic Engine: Exactly 1 booking admitted, 49 cleanly rejected with nearest alternative suggestions (0% failure rate, 100% mutual exclusion).</a:t>
            </a:r>
            <a:br/>
            <a:r>
              <a:t>Lock Wait Time: Capped under 18 ms under 200 req/sec bursts.</a:t>
            </a:r>
          </a:p>
        </p:txBody>
      </p:sp>
      <p:sp>
        <p:nvSpPr>
          <p:cNvPr id="11" name="Rectangle 10"/>
          <p:cNvSpPr/>
          <p:nvPr/>
        </p:nvSpPr>
        <p:spPr>
          <a:xfrm>
            <a:off x="4389120" y="3977639"/>
            <a:ext cx="3410712" cy="73152"/>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6720" y="3977639"/>
            <a:ext cx="3410712"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a:lstStyle/>
          <a:p>
            <a:pPr algn="ctr">
              <a:spcAft>
                <a:spcPts val="600"/>
              </a:spcAft>
              <a:defRPr sz="1150" b="1">
                <a:solidFill>
                  <a:srgbClr val="1A365D"/>
                </a:solidFill>
                <a:latin typeface="Calibri"/>
              </a:defRPr>
            </a:pPr>
            <a:r>
              <a:t>3. Scalability &amp; Resource Footprint</a:t>
            </a:r>
          </a:p>
          <a:p>
            <a:pPr>
              <a:lnSpc>
                <a:spcPct val="118000"/>
              </a:lnSpc>
              <a:defRPr sz="919">
                <a:solidFill>
                  <a:srgbClr val="334155"/>
                </a:solidFill>
                <a:latin typeface="Calibri"/>
              </a:defRPr>
            </a:pPr>
            <a:r>
              <a:t>Memory Footprint: FastAPI backend consumes ~45 MB RAM under standard load; peaks at &lt;85 MB under high-volume stress.</a:t>
            </a:r>
            <a:br/>
            <a:r>
              <a:t>Database Storage: SQLite WAL database file consumes &lt;15 MB with 10,000 historical booking and attendee records.</a:t>
            </a:r>
            <a:br/>
            <a:r>
              <a:t>CPU Utilization: Consistently &lt;5% CPU during standard traffic; &lt;22% CPU under 200 req/sec stress bursts.</a:t>
            </a:r>
            <a:br/>
            <a:r>
              <a:t>Throughput Capacity: Sustains 350+ requests/second per Uvicorn worker without thread starvation.</a:t>
            </a:r>
          </a:p>
        </p:txBody>
      </p:sp>
      <p:sp>
        <p:nvSpPr>
          <p:cNvPr id="13" name="Rectangle 12"/>
          <p:cNvSpPr/>
          <p:nvPr/>
        </p:nvSpPr>
        <p:spPr>
          <a:xfrm>
            <a:off x="8046720" y="3977639"/>
            <a:ext cx="341071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