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640080"/>
            <a:ext cx="10362895" cy="38404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defRPr sz="1100" b="1">
                <a:solidFill>
                  <a:srgbClr val="312E81"/>
                </a:solidFill>
                <a:latin typeface="Calibri"/>
              </a:defRPr>
            </a:pPr>
            <a:r>
              <a:t>DEPARTMENT OF COMPUTER SCIENCE AND ENGINEERING | SAVEETHA SCHOOL OF ENGINEERING (SIMATS)</a:t>
            </a:r>
          </a:p>
        </p:txBody>
      </p:sp>
      <p:sp>
        <p:nvSpPr>
          <p:cNvPr id="4" name="TextBox 3"/>
          <p:cNvSpPr txBox="1"/>
          <p:nvPr/>
        </p:nvSpPr>
        <p:spPr>
          <a:xfrm>
            <a:off x="914400" y="1280160"/>
            <a:ext cx="10362895" cy="2103120"/>
          </a:xfrm>
          <a:prstGeom prst="rect">
            <a:avLst/>
          </a:prstGeom>
          <a:noFill/>
        </p:spPr>
        <p:txBody>
          <a:bodyPr wrap="square">
            <a:spAutoFit/>
          </a:bodyPr>
          <a:lstStyle/>
          <a:p>
            <a:pPr algn="ctr">
              <a:spcAft>
                <a:spcPts val="1200"/>
              </a:spcAft>
              <a:defRPr sz="2800" b="1">
                <a:solidFill>
                  <a:srgbClr val="1A365D"/>
                </a:solidFill>
                <a:latin typeface="Calibri"/>
              </a:defRPr>
            </a:pPr>
            <a:r>
              <a:t>EventFlow: Preventing Double-Booking in Campus Venue Scheduling Using the Interval Scheduling Algorithm</a:t>
            </a:r>
          </a:p>
          <a:p>
            <a:pPr algn="ctr">
              <a:defRPr sz="1500" b="1">
                <a:solidFill>
                  <a:srgbClr val="2563EB"/>
                </a:solidFill>
                <a:latin typeface="Calibri"/>
              </a:defRPr>
            </a:pPr>
            <a:r>
              <a:t>A Centralized, Real-Time Campus Event &amp; Session Coordination System</a:t>
            </a:r>
          </a:p>
        </p:txBody>
      </p:sp>
      <p:sp>
        <p:nvSpPr>
          <p:cNvPr id="5" name="Rectangle 4"/>
          <p:cNvSpPr/>
          <p:nvPr/>
        </p:nvSpPr>
        <p:spPr>
          <a:xfrm>
            <a:off x="4114800" y="3474720"/>
            <a:ext cx="3962095"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97280" y="3794760"/>
            <a:ext cx="475488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tIns="228600" rIns="228600" wrap="square"/>
          <a:lstStyle/>
          <a:p>
            <a:pPr algn="ctr">
              <a:spcAft>
                <a:spcPts val="800"/>
              </a:spcAft>
              <a:defRPr sz="1100" b="1">
                <a:solidFill>
                  <a:srgbClr val="1A365D"/>
                </a:solidFill>
                <a:latin typeface="Calibri"/>
              </a:defRPr>
            </a:pPr>
            <a:r>
              <a:t>ACADEMIC &amp; COURSE METADATA</a:t>
            </a:r>
          </a:p>
          <a:p>
            <a:pPr>
              <a:spcAft>
                <a:spcPts val="400"/>
              </a:spcAft>
              <a:defRPr sz="1000">
                <a:latin typeface="Calibri"/>
              </a:defRPr>
            </a:pPr>
            <a:r>
              <a:rPr b="1">
                <a:solidFill>
                  <a:srgbClr val="0F172A"/>
                </a:solidFill>
              </a:rPr>
              <a:t>Course Code &amp; Title: </a:t>
            </a:r>
            <a:r>
              <a:rPr>
                <a:solidFill>
                  <a:srgbClr val="334155"/>
                </a:solidFill>
              </a:rPr>
              <a:t>CSA1021 - Software Engineering</a:t>
            </a:r>
          </a:p>
          <a:p>
            <a:pPr>
              <a:spcAft>
                <a:spcPts val="400"/>
              </a:spcAft>
              <a:defRPr sz="1000">
                <a:latin typeface="Calibri"/>
              </a:defRPr>
            </a:pPr>
            <a:r>
              <a:rPr b="1">
                <a:solidFill>
                  <a:srgbClr val="0F172A"/>
                </a:solidFill>
              </a:rPr>
              <a:t>Curriculum Scope: </a:t>
            </a:r>
            <a:r>
              <a:rPr>
                <a:solidFill>
                  <a:srgbClr val="334155"/>
                </a:solidFill>
              </a:rPr>
              <a:t>Capstone Project Assessment (2026)</a:t>
            </a:r>
          </a:p>
          <a:p>
            <a:pPr>
              <a:spcAft>
                <a:spcPts val="400"/>
              </a:spcAft>
              <a:defRPr sz="1000">
                <a:latin typeface="Calibri"/>
              </a:defRPr>
            </a:pPr>
            <a:r>
              <a:rPr b="1">
                <a:solidFill>
                  <a:srgbClr val="0F172A"/>
                </a:solidFill>
              </a:rPr>
              <a:t>Project Platform: </a:t>
            </a:r>
            <a:r>
              <a:rPr>
                <a:solidFill>
                  <a:srgbClr val="334155"/>
                </a:solidFill>
              </a:rPr>
              <a:t>EventFlow (FastAPI + Supabase / SQLite + React)</a:t>
            </a:r>
          </a:p>
          <a:p>
            <a:pPr>
              <a:spcAft>
                <a:spcPts val="400"/>
              </a:spcAft>
              <a:defRPr sz="1000">
                <a:latin typeface="Calibri"/>
              </a:defRPr>
            </a:pPr>
            <a:r>
              <a:rPr b="1">
                <a:solidFill>
                  <a:srgbClr val="0F172A"/>
                </a:solidFill>
              </a:rPr>
              <a:t>Core Focus Area: </a:t>
            </a:r>
            <a:r>
              <a:rPr>
                <a:solidFill>
                  <a:srgbClr val="334155"/>
                </a:solidFill>
              </a:rPr>
              <a:t>Interval Scheduling &amp; Temporal Concurrency</a:t>
            </a:r>
          </a:p>
        </p:txBody>
      </p:sp>
      <p:sp>
        <p:nvSpPr>
          <p:cNvPr id="7" name="Rounded Rectangle 6"/>
          <p:cNvSpPr/>
          <p:nvPr/>
        </p:nvSpPr>
        <p:spPr>
          <a:xfrm>
            <a:off x="6309360" y="3794760"/>
            <a:ext cx="475488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tIns="228600" rIns="228600" wrap="square"/>
          <a:lstStyle/>
          <a:p>
            <a:pPr algn="ctr">
              <a:spcAft>
                <a:spcPts val="800"/>
              </a:spcAft>
              <a:defRPr sz="1100" b="1">
                <a:solidFill>
                  <a:srgbClr val="1A365D"/>
                </a:solidFill>
                <a:latin typeface="Calibri"/>
              </a:defRPr>
            </a:pPr>
            <a:r>
              <a:t>PROJECT TEAM &amp; AFFILIATION</a:t>
            </a:r>
          </a:p>
          <a:p>
            <a:pPr>
              <a:spcAft>
                <a:spcPts val="400"/>
              </a:spcAft>
              <a:defRPr sz="1000">
                <a:latin typeface="Calibri"/>
              </a:defRPr>
            </a:pPr>
            <a:r>
              <a:rPr b="1">
                <a:solidFill>
                  <a:srgbClr val="0F172A"/>
                </a:solidFill>
              </a:rPr>
              <a:t>Student Lead: </a:t>
            </a:r>
            <a:r>
              <a:rPr>
                <a:solidFill>
                  <a:srgbClr val="334155"/>
                </a:solidFill>
              </a:rPr>
              <a:t>S. Mithun Senthil (Reg. No: 192324056)</a:t>
            </a:r>
          </a:p>
          <a:p>
            <a:pPr>
              <a:spcAft>
                <a:spcPts val="400"/>
              </a:spcAft>
              <a:defRPr sz="1000">
                <a:latin typeface="Calibri"/>
              </a:defRPr>
            </a:pPr>
            <a:r>
              <a:rPr b="1">
                <a:solidFill>
                  <a:srgbClr val="0F172A"/>
                </a:solidFill>
              </a:rPr>
              <a:t>Team Member: </a:t>
            </a:r>
            <a:r>
              <a:rPr>
                <a:solidFill>
                  <a:srgbClr val="334155"/>
                </a:solidFill>
              </a:rPr>
              <a:t>[Teammate Name] (Reg. No: [Teammate Reg No])</a:t>
            </a:r>
          </a:p>
          <a:p>
            <a:pPr>
              <a:spcAft>
                <a:spcPts val="400"/>
              </a:spcAft>
              <a:defRPr sz="1000">
                <a:latin typeface="Calibri"/>
              </a:defRPr>
            </a:pPr>
            <a:r>
              <a:rPr b="1">
                <a:solidFill>
                  <a:srgbClr val="0F172A"/>
                </a:solidFill>
              </a:rPr>
              <a:t>Department: </a:t>
            </a:r>
            <a:r>
              <a:rPr>
                <a:solidFill>
                  <a:srgbClr val="334155"/>
                </a:solidFill>
              </a:rPr>
              <a:t>Computer Science and Engineering</a:t>
            </a:r>
          </a:p>
          <a:p>
            <a:pPr>
              <a:spcAft>
                <a:spcPts val="400"/>
              </a:spcAft>
              <a:defRPr sz="1000">
                <a:latin typeface="Calibri"/>
              </a:defRPr>
            </a:pPr>
            <a:r>
              <a:rPr b="1">
                <a:solidFill>
                  <a:srgbClr val="0F172A"/>
                </a:solidFill>
              </a:rPr>
              <a:t>Institution: </a:t>
            </a:r>
            <a:r>
              <a:rPr>
                <a:solidFill>
                  <a:srgbClr val="334155"/>
                </a:solidFill>
              </a:rPr>
              <a:t>Saveetha School of Engineering, SIMATS</a:t>
            </a:r>
          </a:p>
        </p:txBody>
      </p:sp>
      <p:sp>
        <p:nvSpPr>
          <p:cNvPr id="8" name="TextBox 7"/>
          <p:cNvSpPr txBox="1"/>
          <p:nvPr/>
        </p:nvSpPr>
        <p:spPr>
          <a:xfrm>
            <a:off x="731520" y="6400800"/>
            <a:ext cx="7315200" cy="274320"/>
          </a:xfrm>
          <a:prstGeom prst="rect">
            <a:avLst/>
          </a:prstGeom>
          <a:noFill/>
        </p:spPr>
        <p:txBody>
          <a:bodyPr wrap="square" lIns="0" tIns="0">
            <a:spAutoFit/>
          </a:bodyPr>
          <a:lstStyle/>
          <a:p>
            <a:pPr>
              <a:defRPr sz="900">
                <a:solidFill>
                  <a:srgbClr val="64748B"/>
                </a:solidFill>
                <a:latin typeface="Calibri"/>
              </a:defRPr>
            </a:pPr>
            <a:r>
              <a:t>CSA1021 - Software Engineering | Capstone Project 2026 | Saveetha School of Engineering (SIMATS)</a:t>
            </a:r>
          </a:p>
        </p:txBody>
      </p:sp>
      <p:sp>
        <p:nvSpPr>
          <p:cNvPr id="9" name="TextBox 8"/>
          <p:cNvSpPr txBox="1"/>
          <p:nvPr/>
        </p:nvSpPr>
        <p:spPr>
          <a:xfrm>
            <a:off x="9601200" y="6400800"/>
            <a:ext cx="1828800" cy="274320"/>
          </a:xfrm>
          <a:prstGeom prst="rect">
            <a:avLst/>
          </a:prstGeom>
          <a:noFill/>
        </p:spPr>
        <p:txBody>
          <a:bodyPr wrap="square" rIns="0" tIns="0">
            <a:spAutoFit/>
          </a:bodyPr>
          <a:lstStyle/>
          <a:p>
            <a:pPr algn="r">
              <a:defRPr sz="900">
                <a:solidFill>
                  <a:srgbClr val="64748B"/>
                </a:solidFill>
                <a:latin typeface="Calibri"/>
              </a:defRPr>
            </a:pPr>
            <a:r>
              <a:t>Slide 1 of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411480"/>
            <a:ext cx="411480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ctr">
              <a:defRPr sz="950" b="1">
                <a:solidFill>
                  <a:srgbClr val="312E81"/>
                </a:solidFill>
                <a:latin typeface="Calibri"/>
              </a:defRPr>
            </a:pPr>
            <a:r>
              <a:t>CONTEXT &amp; CAMPUS OPERATIONS</a:t>
            </a:r>
          </a:p>
        </p:txBody>
      </p:sp>
      <p:sp>
        <p:nvSpPr>
          <p:cNvPr id="3" name="TextBox 2"/>
          <p:cNvSpPr txBox="1"/>
          <p:nvPr/>
        </p:nvSpPr>
        <p:spPr>
          <a:xfrm>
            <a:off x="731520" y="777240"/>
            <a:ext cx="10698480" cy="868680"/>
          </a:xfrm>
          <a:prstGeom prst="rect">
            <a:avLst/>
          </a:prstGeom>
          <a:noFill/>
        </p:spPr>
        <p:txBody>
          <a:bodyPr wrap="square" lIns="0" tIns="0" rIns="0" bIns="0">
            <a:spAutoFit/>
          </a:bodyPr>
          <a:lstStyle/>
          <a:p>
            <a:pPr>
              <a:defRPr sz="2200" b="1">
                <a:solidFill>
                  <a:srgbClr val="1A365D"/>
                </a:solidFill>
                <a:latin typeface="Calibri"/>
              </a:defRPr>
            </a:pPr>
            <a:r>
              <a:t>Introduction: Campus Venue Scheduling Dynamics</a:t>
            </a:r>
          </a:p>
          <a:p>
            <a:pPr>
              <a:spcBef>
                <a:spcPts val="300"/>
              </a:spcBef>
              <a:defRPr sz="1200">
                <a:solidFill>
                  <a:srgbClr val="64748B"/>
                </a:solidFill>
                <a:latin typeface="Calibri"/>
              </a:defRPr>
            </a:pPr>
            <a:r>
              <a:t>Operational realities and algorithmic challenges of multi-department university event coordination</a:t>
            </a:r>
          </a:p>
        </p:txBody>
      </p:sp>
      <p:sp>
        <p:nvSpPr>
          <p:cNvPr id="4" name="Rectangle 3"/>
          <p:cNvSpPr/>
          <p:nvPr/>
        </p:nvSpPr>
        <p:spPr>
          <a:xfrm>
            <a:off x="731520" y="169164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7315200" cy="274320"/>
          </a:xfrm>
          <a:prstGeom prst="rect">
            <a:avLst/>
          </a:prstGeom>
          <a:noFill/>
        </p:spPr>
        <p:txBody>
          <a:bodyPr wrap="square" lIns="0" tIns="0">
            <a:spAutoFit/>
          </a:bodyPr>
          <a:lstStyle/>
          <a:p>
            <a:pPr>
              <a:defRPr sz="900">
                <a:solidFill>
                  <a:srgbClr val="64748B"/>
                </a:solidFill>
                <a:latin typeface="Calibri"/>
              </a:defRPr>
            </a:pPr>
            <a:r>
              <a:t>CSA1021 - Software Engineering | Capstone Project 2026 | Saveetha School of Engineering (SIMATS)</a:t>
            </a:r>
          </a:p>
        </p:txBody>
      </p:sp>
      <p:sp>
        <p:nvSpPr>
          <p:cNvPr id="6" name="TextBox 5"/>
          <p:cNvSpPr txBox="1"/>
          <p:nvPr/>
        </p:nvSpPr>
        <p:spPr>
          <a:xfrm>
            <a:off x="9601200" y="6400800"/>
            <a:ext cx="1828800" cy="274320"/>
          </a:xfrm>
          <a:prstGeom prst="rect">
            <a:avLst/>
          </a:prstGeom>
          <a:noFill/>
        </p:spPr>
        <p:txBody>
          <a:bodyPr wrap="square" rIns="0" tIns="0">
            <a:spAutoFit/>
          </a:bodyPr>
          <a:lstStyle/>
          <a:p>
            <a:pPr algn="r">
              <a:defRPr sz="900">
                <a:solidFill>
                  <a:srgbClr val="64748B"/>
                </a:solidFill>
                <a:latin typeface="Calibri"/>
              </a:defRPr>
            </a:pPr>
            <a:r>
              <a:t>Slide 2 of 8</a:t>
            </a:r>
          </a:p>
        </p:txBody>
      </p:sp>
      <p:sp>
        <p:nvSpPr>
          <p:cNvPr id="7" name="Rounded Rectangle 6"/>
          <p:cNvSpPr/>
          <p:nvPr/>
        </p:nvSpPr>
        <p:spPr>
          <a:xfrm>
            <a:off x="731520" y="1874519"/>
            <a:ext cx="3410712" cy="4297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sz="1300" b="1">
                <a:solidFill>
                  <a:srgbClr val="1A365D"/>
                </a:solidFill>
                <a:latin typeface="Calibri"/>
              </a:defRPr>
            </a:pPr>
            <a:r>
              <a:t>1. Dynamic University Ecosystem &amp; Multi-Event Scale</a:t>
            </a:r>
          </a:p>
          <a:p>
            <a:pPr>
              <a:lnSpc>
                <a:spcPct val="125000"/>
              </a:lnSpc>
              <a:defRPr sz="1100">
                <a:solidFill>
                  <a:srgbClr val="334155"/>
                </a:solidFill>
                <a:latin typeface="Calibri"/>
              </a:defRPr>
            </a:pPr>
            <a:r>
              <a:t>Modern academic campuses host dozens of concurrent co-curricular and extracurricular programs each semester—including 36-hour hackathons, technical symposiums, research workshops, guest lectures, cultural galas, and sports tournaments.</a:t>
            </a:r>
            <a:br/>
            <a:br/>
            <a:r>
              <a:t>These events coordinate thousands of students, faculty mentors, and specialized campus venues across distinct academic departments operating autonomously.</a:t>
            </a:r>
          </a:p>
        </p:txBody>
      </p:sp>
      <p:sp>
        <p:nvSpPr>
          <p:cNvPr id="8" name="Rounded Rectangle 7"/>
          <p:cNvSpPr/>
          <p:nvPr/>
        </p:nvSpPr>
        <p:spPr>
          <a:xfrm>
            <a:off x="4389120" y="1874519"/>
            <a:ext cx="3410712" cy="4297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sz="1300" b="1">
                <a:solidFill>
                  <a:srgbClr val="1A365D"/>
                </a:solidFill>
                <a:latin typeface="Calibri"/>
              </a:defRPr>
            </a:pPr>
            <a:r>
              <a:t>2. The Shared Resource &amp; Double-Booking Bottleneck</a:t>
            </a:r>
          </a:p>
          <a:p>
            <a:pPr>
              <a:lnSpc>
                <a:spcPct val="125000"/>
              </a:lnSpc>
              <a:defRPr sz="1100">
                <a:solidFill>
                  <a:srgbClr val="334155"/>
                </a:solidFill>
                <a:latin typeface="Calibri"/>
              </a:defRPr>
            </a:pPr>
            <a:r>
              <a:t>Colleges operate with finite high-demand facilities (Main Auditorium, Tech Seminar Halls, Smart Labs). Organizers frequently request the exact same hall for identical dates and overlapping times—often within seconds of each other during peak festival scheduling.</a:t>
            </a:r>
            <a:br/>
            <a:br/>
            <a:r>
              <a:t>Without a centralized, mathematically verified reservation pipeline, multiple bookings are confirmed for a single venue: the classic double-booking failure.</a:t>
            </a:r>
          </a:p>
        </p:txBody>
      </p:sp>
      <p:sp>
        <p:nvSpPr>
          <p:cNvPr id="9" name="Rounded Rectangle 8"/>
          <p:cNvSpPr/>
          <p:nvPr/>
        </p:nvSpPr>
        <p:spPr>
          <a:xfrm>
            <a:off x="8046720" y="1874519"/>
            <a:ext cx="3410712" cy="42976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sz="1300" b="1">
                <a:solidFill>
                  <a:srgbClr val="1A365D"/>
                </a:solidFill>
                <a:latin typeface="Calibri"/>
              </a:defRPr>
            </a:pPr>
            <a:r>
              <a:t>3. Computational Interval Model &amp; EventFlow Integration</a:t>
            </a:r>
          </a:p>
          <a:p>
            <a:pPr>
              <a:lnSpc>
                <a:spcPct val="125000"/>
              </a:lnSpc>
              <a:defRPr sz="1100">
                <a:solidFill>
                  <a:srgbClr val="334155"/>
                </a:solidFill>
                <a:latin typeface="Calibri"/>
              </a:defRPr>
            </a:pPr>
            <a:r>
              <a:t>In computer science, each venue booking is formulated as a discrete continuous time interval [start, end) allocated to a specific physical resource ID.</a:t>
            </a:r>
            <a:br/>
            <a:br/>
            <a:r>
              <a:t>EventFlow solves this structural failure by embedding rigorous interval scheduling directly into a centralized campus event coordination platform, providing conflict-free scheduling alongside digital QR passes and session navigation.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411480"/>
            <a:ext cx="411480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ctr">
              <a:defRPr sz="950" b="1">
                <a:solidFill>
                  <a:srgbClr val="312E81"/>
                </a:solidFill>
                <a:latin typeface="Calibri"/>
              </a:defRPr>
            </a:pPr>
            <a:r>
              <a:t>ALGORITHMIC &amp; SYSTEM GOALS</a:t>
            </a:r>
          </a:p>
        </p:txBody>
      </p:sp>
      <p:sp>
        <p:nvSpPr>
          <p:cNvPr id="3" name="TextBox 2"/>
          <p:cNvSpPr txBox="1"/>
          <p:nvPr/>
        </p:nvSpPr>
        <p:spPr>
          <a:xfrm>
            <a:off x="731520" y="777240"/>
            <a:ext cx="10698480" cy="868680"/>
          </a:xfrm>
          <a:prstGeom prst="rect">
            <a:avLst/>
          </a:prstGeom>
          <a:noFill/>
        </p:spPr>
        <p:txBody>
          <a:bodyPr wrap="square" lIns="0" tIns="0" rIns="0" bIns="0">
            <a:spAutoFit/>
          </a:bodyPr>
          <a:lstStyle/>
          <a:p>
            <a:pPr>
              <a:defRPr sz="2200" b="1">
                <a:solidFill>
                  <a:srgbClr val="1A365D"/>
                </a:solidFill>
                <a:latin typeface="Calibri"/>
              </a:defRPr>
            </a:pPr>
            <a:r>
              <a:t>Project Objectives</a:t>
            </a:r>
          </a:p>
          <a:p>
            <a:pPr>
              <a:spcBef>
                <a:spcPts val="300"/>
              </a:spcBef>
              <a:defRPr sz="1200">
                <a:solidFill>
                  <a:srgbClr val="64748B"/>
                </a:solidFill>
                <a:latin typeface="Calibri"/>
              </a:defRPr>
            </a:pPr>
            <a:r>
              <a:t>Core technical benchmarks and architectural outcomes established for EventFlow</a:t>
            </a:r>
          </a:p>
        </p:txBody>
      </p:sp>
      <p:sp>
        <p:nvSpPr>
          <p:cNvPr id="4" name="Rectangle 3"/>
          <p:cNvSpPr/>
          <p:nvPr/>
        </p:nvSpPr>
        <p:spPr>
          <a:xfrm>
            <a:off x="731520" y="169164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7315200" cy="274320"/>
          </a:xfrm>
          <a:prstGeom prst="rect">
            <a:avLst/>
          </a:prstGeom>
          <a:noFill/>
        </p:spPr>
        <p:txBody>
          <a:bodyPr wrap="square" lIns="0" tIns="0">
            <a:spAutoFit/>
          </a:bodyPr>
          <a:lstStyle/>
          <a:p>
            <a:pPr>
              <a:defRPr sz="900">
                <a:solidFill>
                  <a:srgbClr val="64748B"/>
                </a:solidFill>
                <a:latin typeface="Calibri"/>
              </a:defRPr>
            </a:pPr>
            <a:r>
              <a:t>CSA1021 - Software Engineering | Capstone Project 2026 | Saveetha School of Engineering (SIMATS)</a:t>
            </a:r>
          </a:p>
        </p:txBody>
      </p:sp>
      <p:sp>
        <p:nvSpPr>
          <p:cNvPr id="6" name="TextBox 5"/>
          <p:cNvSpPr txBox="1"/>
          <p:nvPr/>
        </p:nvSpPr>
        <p:spPr>
          <a:xfrm>
            <a:off x="9601200" y="6400800"/>
            <a:ext cx="1828800" cy="274320"/>
          </a:xfrm>
          <a:prstGeom prst="rect">
            <a:avLst/>
          </a:prstGeom>
          <a:noFill/>
        </p:spPr>
        <p:txBody>
          <a:bodyPr wrap="square" rIns="0" tIns="0">
            <a:spAutoFit/>
          </a:bodyPr>
          <a:lstStyle/>
          <a:p>
            <a:pPr algn="r">
              <a:defRPr sz="900">
                <a:solidFill>
                  <a:srgbClr val="64748B"/>
                </a:solidFill>
                <a:latin typeface="Calibri"/>
              </a:defRPr>
            </a:pPr>
            <a:r>
              <a:t>Slide 3 of 8</a:t>
            </a:r>
          </a:p>
        </p:txBody>
      </p:sp>
      <p:sp>
        <p:nvSpPr>
          <p:cNvPr id="7" name="Rounded Rectangle 6"/>
          <p:cNvSpPr/>
          <p:nvPr/>
        </p:nvSpPr>
        <p:spPr>
          <a:xfrm>
            <a:off x="731520" y="1874519"/>
            <a:ext cx="5239512"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rIns="182880"/>
          <a:lstStyle/>
          <a:p>
            <a:pPr algn="ctr">
              <a:spcAft>
                <a:spcPts val="800"/>
              </a:spcAft>
              <a:defRPr sz="1300" b="1">
                <a:solidFill>
                  <a:srgbClr val="1A365D"/>
                </a:solidFill>
                <a:latin typeface="Calibri"/>
              </a:defRPr>
            </a:pPr>
            <a:r>
              <a:t>Objective 1: Strict Temporal Collision Prevention</a:t>
            </a:r>
          </a:p>
          <a:p>
            <a:pPr>
              <a:lnSpc>
                <a:spcPct val="120000"/>
              </a:lnSpc>
              <a:defRPr sz="1050">
                <a:solidFill>
                  <a:srgbClr val="334155"/>
                </a:solidFill>
                <a:latin typeface="Calibri"/>
              </a:defRPr>
            </a:pPr>
            <a:r>
              <a:t>Detect and preemptively block overlapping bookings for the same campus venue before database confirmation. Treat bookings as formal time intervals [start, end) and evaluate intersection logic to eliminate complete, partial, and multi-round clashes.</a:t>
            </a:r>
          </a:p>
        </p:txBody>
      </p:sp>
      <p:sp>
        <p:nvSpPr>
          <p:cNvPr id="8" name="Rectangle 7"/>
          <p:cNvSpPr/>
          <p:nvPr/>
        </p:nvSpPr>
        <p:spPr>
          <a:xfrm>
            <a:off x="731520" y="1874519"/>
            <a:ext cx="109728" cy="2057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874519"/>
            <a:ext cx="5239512"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rIns="182880"/>
          <a:lstStyle/>
          <a:p>
            <a:pPr algn="ctr">
              <a:spcAft>
                <a:spcPts val="800"/>
              </a:spcAft>
              <a:defRPr sz="1300" b="1">
                <a:solidFill>
                  <a:srgbClr val="1A365D"/>
                </a:solidFill>
                <a:latin typeface="Calibri"/>
              </a:defRPr>
            </a:pPr>
            <a:r>
              <a:t>Objective 2: Optimal Venue Throughput via Interval Scheduling</a:t>
            </a:r>
          </a:p>
          <a:p>
            <a:pPr>
              <a:lnSpc>
                <a:spcPct val="120000"/>
              </a:lnSpc>
              <a:defRPr sz="1050">
                <a:solidFill>
                  <a:srgbClr val="334155"/>
                </a:solidFill>
                <a:latin typeface="Calibri"/>
              </a:defRPr>
            </a:pPr>
            <a:r>
              <a:t>Apply the classic greedy Earliest Finish Time (EFT) interval scheduling algorithm for batch or competing reservation windows, accepting the largest possible number of mutually compatible events per campus venue in polynomial time O(M log M).</a:t>
            </a:r>
          </a:p>
        </p:txBody>
      </p:sp>
      <p:sp>
        <p:nvSpPr>
          <p:cNvPr id="10" name="Rectangle 9"/>
          <p:cNvSpPr/>
          <p:nvPr/>
        </p:nvSpPr>
        <p:spPr>
          <a:xfrm>
            <a:off x="6217920" y="1874519"/>
            <a:ext cx="109728" cy="20574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4114800"/>
            <a:ext cx="5239512"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rIns="182880"/>
          <a:lstStyle/>
          <a:p>
            <a:pPr algn="ctr">
              <a:spcAft>
                <a:spcPts val="800"/>
              </a:spcAft>
              <a:defRPr sz="1300" b="1">
                <a:solidFill>
                  <a:srgbClr val="1A365D"/>
                </a:solidFill>
                <a:latin typeface="Calibri"/>
              </a:defRPr>
            </a:pPr>
            <a:r>
              <a:t>Objective 3: Real-Time High-Concurrency Safety</a:t>
            </a:r>
          </a:p>
          <a:p>
            <a:pPr>
              <a:lnSpc>
                <a:spcPct val="120000"/>
              </a:lnSpc>
              <a:defRPr sz="1050">
                <a:solidFill>
                  <a:srgbClr val="334155"/>
                </a:solidFill>
                <a:latin typeface="Calibri"/>
              </a:defRPr>
            </a:pPr>
            <a:r>
              <a:t>Enforce atomic transactional locking and sub-second binary search verification (O(log N)) to guarantee that simultaneous multi-user requests cannot bypass validation or induce Time-of-Check to Time-of-Use (TOCTOU) race condition double-bookings.</a:t>
            </a:r>
          </a:p>
        </p:txBody>
      </p:sp>
      <p:sp>
        <p:nvSpPr>
          <p:cNvPr id="12" name="Rectangle 11"/>
          <p:cNvSpPr/>
          <p:nvPr/>
        </p:nvSpPr>
        <p:spPr>
          <a:xfrm>
            <a:off x="731520" y="4114800"/>
            <a:ext cx="109728" cy="2057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4114800"/>
            <a:ext cx="5239512"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rIns="182880"/>
          <a:lstStyle/>
          <a:p>
            <a:pPr algn="ctr">
              <a:spcAft>
                <a:spcPts val="800"/>
              </a:spcAft>
              <a:defRPr sz="1300" b="1">
                <a:solidFill>
                  <a:srgbClr val="1A365D"/>
                </a:solidFill>
                <a:latin typeface="Calibri"/>
              </a:defRPr>
            </a:pPr>
            <a:r>
              <a:t>Objective 4: Intelligent Rejection Feedback &amp; Alternatives</a:t>
            </a:r>
          </a:p>
          <a:p>
            <a:pPr>
              <a:lnSpc>
                <a:spcPct val="120000"/>
              </a:lnSpc>
              <a:defRPr sz="1050">
                <a:solidFill>
                  <a:srgbClr val="334155"/>
                </a:solidFill>
                <a:latin typeface="Calibri"/>
              </a:defRPr>
            </a:pPr>
            <a:r>
              <a:t>Provide instantaneous, transparent rejection feedback with root-cause conflict metrics. Automatically compute and suggest nearest vacant idle time slots and recommend alternative campus venues possessing equivalent room capacity.</a:t>
            </a:r>
          </a:p>
        </p:txBody>
      </p:sp>
      <p:sp>
        <p:nvSpPr>
          <p:cNvPr id="14" name="Rectangle 13"/>
          <p:cNvSpPr/>
          <p:nvPr/>
        </p:nvSpPr>
        <p:spPr>
          <a:xfrm>
            <a:off x="6217920" y="4114800"/>
            <a:ext cx="109728" cy="2057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411480"/>
            <a:ext cx="411480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ctr">
              <a:defRPr sz="950" b="1">
                <a:solidFill>
                  <a:srgbClr val="312E81"/>
                </a:solidFill>
                <a:latin typeface="Calibri"/>
              </a:defRPr>
            </a:pPr>
            <a:r>
              <a:t>EXECUTIVE SUMMARY</a:t>
            </a:r>
          </a:p>
        </p:txBody>
      </p:sp>
      <p:sp>
        <p:nvSpPr>
          <p:cNvPr id="3" name="TextBox 2"/>
          <p:cNvSpPr txBox="1"/>
          <p:nvPr/>
        </p:nvSpPr>
        <p:spPr>
          <a:xfrm>
            <a:off x="731520" y="777240"/>
            <a:ext cx="10698480" cy="868680"/>
          </a:xfrm>
          <a:prstGeom prst="rect">
            <a:avLst/>
          </a:prstGeom>
          <a:noFill/>
        </p:spPr>
        <p:txBody>
          <a:bodyPr wrap="square" lIns="0" tIns="0" rIns="0" bIns="0">
            <a:spAutoFit/>
          </a:bodyPr>
          <a:lstStyle/>
          <a:p>
            <a:pPr>
              <a:defRPr sz="2200" b="1">
                <a:solidFill>
                  <a:srgbClr val="1A365D"/>
                </a:solidFill>
                <a:latin typeface="Calibri"/>
              </a:defRPr>
            </a:pPr>
            <a:r>
              <a:t>Abstract</a:t>
            </a:r>
          </a:p>
          <a:p>
            <a:pPr>
              <a:spcBef>
                <a:spcPts val="300"/>
              </a:spcBef>
              <a:defRPr sz="1200">
                <a:solidFill>
                  <a:srgbClr val="64748B"/>
                </a:solidFill>
                <a:latin typeface="Calibri"/>
              </a:defRPr>
            </a:pPr>
            <a:r>
              <a:t>Algorithmic framework and concurrency-safe implementation of EventFlow</a:t>
            </a:r>
          </a:p>
        </p:txBody>
      </p:sp>
      <p:sp>
        <p:nvSpPr>
          <p:cNvPr id="4" name="Rectangle 3"/>
          <p:cNvSpPr/>
          <p:nvPr/>
        </p:nvSpPr>
        <p:spPr>
          <a:xfrm>
            <a:off x="731520" y="169164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7315200" cy="274320"/>
          </a:xfrm>
          <a:prstGeom prst="rect">
            <a:avLst/>
          </a:prstGeom>
          <a:noFill/>
        </p:spPr>
        <p:txBody>
          <a:bodyPr wrap="square" lIns="0" tIns="0">
            <a:spAutoFit/>
          </a:bodyPr>
          <a:lstStyle/>
          <a:p>
            <a:pPr>
              <a:defRPr sz="900">
                <a:solidFill>
                  <a:srgbClr val="64748B"/>
                </a:solidFill>
                <a:latin typeface="Calibri"/>
              </a:defRPr>
            </a:pPr>
            <a:r>
              <a:t>CSA1021 - Software Engineering | Capstone Project 2026 | Saveetha School of Engineering (SIMATS)</a:t>
            </a:r>
          </a:p>
        </p:txBody>
      </p:sp>
      <p:sp>
        <p:nvSpPr>
          <p:cNvPr id="6" name="TextBox 5"/>
          <p:cNvSpPr txBox="1"/>
          <p:nvPr/>
        </p:nvSpPr>
        <p:spPr>
          <a:xfrm>
            <a:off x="9601200" y="6400800"/>
            <a:ext cx="1828800" cy="274320"/>
          </a:xfrm>
          <a:prstGeom prst="rect">
            <a:avLst/>
          </a:prstGeom>
          <a:noFill/>
        </p:spPr>
        <p:txBody>
          <a:bodyPr wrap="square" rIns="0" tIns="0">
            <a:spAutoFit/>
          </a:bodyPr>
          <a:lstStyle/>
          <a:p>
            <a:pPr algn="r">
              <a:defRPr sz="900">
                <a:solidFill>
                  <a:srgbClr val="64748B"/>
                </a:solidFill>
                <a:latin typeface="Calibri"/>
              </a:defRPr>
            </a:pPr>
            <a:r>
              <a:t>Slide 4 of 8</a:t>
            </a:r>
          </a:p>
        </p:txBody>
      </p:sp>
      <p:sp>
        <p:nvSpPr>
          <p:cNvPr id="7" name="Rounded Rectangle 6"/>
          <p:cNvSpPr/>
          <p:nvPr/>
        </p:nvSpPr>
        <p:spPr>
          <a:xfrm>
            <a:off x="731520" y="1874519"/>
            <a:ext cx="10725912" cy="1920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lnSpc>
                <a:spcPct val="125000"/>
              </a:lnSpc>
              <a:defRPr sz="1100">
                <a:solidFill>
                  <a:srgbClr val="334155"/>
                </a:solidFill>
                <a:latin typeface="Calibri"/>
              </a:defRPr>
            </a:pPr>
            <a:r>
              <a:t>In centralized campus event management, double-booking represents a critical architectural failure that disrupts schedules, damages administrative credibility, and strands hundreds of participants. Traditional systems rely on manual oversight or coarse date-level validations that fail to capture partial temporal intersections. This project presents a mathematically rigorous, interval scheduling framework integrated into EventFlow—a modern campus event coordination platform.</a:t>
            </a:r>
            <a:br/>
            <a:br/>
            <a:r>
              <a:t>By treating every reservation as a half-open temporal interval [s_i, e_i) bound to a discrete venue resource V_k, the system executes real-time collision detection via binary search neighbor evaluation (O(log N)) and employs greedy Earliest Finish Time (EFT) optimization for competing reservation batches. Built with a FastAPI backend and dual-mode persistence (SQLite WAL / Supabase PostgreSQL), all validations and commits execute inside atomic transactions, eliminating Time-of-Check to Time-of-Use (TOCTOU) race conditions.</a:t>
            </a:r>
          </a:p>
        </p:txBody>
      </p:sp>
      <p:sp>
        <p:nvSpPr>
          <p:cNvPr id="8" name="Rounded Rectangle 7"/>
          <p:cNvSpPr/>
          <p:nvPr/>
        </p:nvSpPr>
        <p:spPr>
          <a:xfrm>
            <a:off x="731520" y="3977639"/>
            <a:ext cx="3410712" cy="21945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600"/>
              </a:spcAft>
              <a:defRPr sz="1200" b="1">
                <a:solidFill>
                  <a:srgbClr val="1A365D"/>
                </a:solidFill>
                <a:latin typeface="Calibri"/>
              </a:defRPr>
            </a:pPr>
            <a:r>
              <a:t>Mathematical Formulation</a:t>
            </a:r>
          </a:p>
          <a:p>
            <a:pPr>
              <a:lnSpc>
                <a:spcPct val="120000"/>
              </a:lnSpc>
              <a:defRPr sz="1000">
                <a:solidFill>
                  <a:srgbClr val="334155"/>
                </a:solidFill>
                <a:latin typeface="Calibri"/>
              </a:defRPr>
            </a:pPr>
            <a:r>
              <a:t>Formal half-open intervals [start, end) model time slots without false boundary conflicts, permitting back-to-back events while strictly blocking overlapping subsets.</a:t>
            </a:r>
          </a:p>
        </p:txBody>
      </p:sp>
      <p:sp>
        <p:nvSpPr>
          <p:cNvPr id="9" name="Rectangle 8"/>
          <p:cNvSpPr/>
          <p:nvPr/>
        </p:nvSpPr>
        <p:spPr>
          <a:xfrm>
            <a:off x="731520" y="3977639"/>
            <a:ext cx="3410712"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89120" y="3977639"/>
            <a:ext cx="3410712" cy="21945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600"/>
              </a:spcAft>
              <a:defRPr sz="1200" b="1">
                <a:solidFill>
                  <a:srgbClr val="1A365D"/>
                </a:solidFill>
                <a:latin typeface="Calibri"/>
              </a:defRPr>
            </a:pPr>
            <a:r>
              <a:t>Concurrency &amp; ACID Integrity</a:t>
            </a:r>
          </a:p>
          <a:p>
            <a:pPr>
              <a:lnSpc>
                <a:spcPct val="120000"/>
              </a:lnSpc>
              <a:defRPr sz="1000">
                <a:solidFill>
                  <a:srgbClr val="334155"/>
                </a:solidFill>
                <a:latin typeface="Calibri"/>
              </a:defRPr>
            </a:pPr>
            <a:r>
              <a:t>Transactional database locks (WAL mode / PostgreSQL ACID) guarantee atomicity, preventing simultaneous multi-user submissions from bypassing availability checks.</a:t>
            </a:r>
          </a:p>
        </p:txBody>
      </p:sp>
      <p:sp>
        <p:nvSpPr>
          <p:cNvPr id="11" name="Rectangle 10"/>
          <p:cNvSpPr/>
          <p:nvPr/>
        </p:nvSpPr>
        <p:spPr>
          <a:xfrm>
            <a:off x="4389120" y="3977639"/>
            <a:ext cx="3410712" cy="73152"/>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46720" y="3977639"/>
            <a:ext cx="3410712" cy="21945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600"/>
              </a:spcAft>
              <a:defRPr sz="1200" b="1">
                <a:solidFill>
                  <a:srgbClr val="1A365D"/>
                </a:solidFill>
                <a:latin typeface="Calibri"/>
              </a:defRPr>
            </a:pPr>
            <a:r>
              <a:t>Platform Verification &amp; Results</a:t>
            </a:r>
          </a:p>
          <a:p>
            <a:pPr>
              <a:lnSpc>
                <a:spcPct val="120000"/>
              </a:lnSpc>
              <a:defRPr sz="1000">
                <a:solidFill>
                  <a:srgbClr val="334155"/>
                </a:solidFill>
                <a:latin typeface="Calibri"/>
              </a:defRPr>
            </a:pPr>
            <a:r>
              <a:t>Achieves guaranteed zero double-bookings, maximal facility throughput, and automated alternative slot suggestions, fully verified across 28 automated Pytest suites.</a:t>
            </a:r>
          </a:p>
        </p:txBody>
      </p:sp>
      <p:sp>
        <p:nvSpPr>
          <p:cNvPr id="13" name="Rectangle 12"/>
          <p:cNvSpPr/>
          <p:nvPr/>
        </p:nvSpPr>
        <p:spPr>
          <a:xfrm>
            <a:off x="8046720" y="3977639"/>
            <a:ext cx="341071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411480"/>
            <a:ext cx="411480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ctr">
              <a:defRPr sz="950" b="1">
                <a:solidFill>
                  <a:srgbClr val="312E81"/>
                </a:solidFill>
                <a:latin typeface="Calibri"/>
              </a:defRPr>
            </a:pPr>
            <a:r>
              <a:t>SYSTEM VULNERABILITIES</a:t>
            </a:r>
          </a:p>
        </p:txBody>
      </p:sp>
      <p:sp>
        <p:nvSpPr>
          <p:cNvPr id="3" name="TextBox 2"/>
          <p:cNvSpPr txBox="1"/>
          <p:nvPr/>
        </p:nvSpPr>
        <p:spPr>
          <a:xfrm>
            <a:off x="731520" y="777240"/>
            <a:ext cx="10698480" cy="868680"/>
          </a:xfrm>
          <a:prstGeom prst="rect">
            <a:avLst/>
          </a:prstGeom>
          <a:noFill/>
        </p:spPr>
        <p:txBody>
          <a:bodyPr wrap="square" lIns="0" tIns="0" rIns="0" bIns="0">
            <a:spAutoFit/>
          </a:bodyPr>
          <a:lstStyle/>
          <a:p>
            <a:pPr>
              <a:defRPr sz="2200" b="1">
                <a:solidFill>
                  <a:srgbClr val="1A365D"/>
                </a:solidFill>
                <a:latin typeface="Calibri"/>
              </a:defRPr>
            </a:pPr>
            <a:r>
              <a:t>Problem Statement: Vulnerabilities in Traditional Scheduling</a:t>
            </a:r>
          </a:p>
          <a:p>
            <a:pPr>
              <a:spcBef>
                <a:spcPts val="300"/>
              </a:spcBef>
              <a:defRPr sz="1200">
                <a:solidFill>
                  <a:srgbClr val="64748B"/>
                </a:solidFill>
                <a:latin typeface="Calibri"/>
              </a:defRPr>
            </a:pPr>
            <a:r>
              <a:t>Why conventional institutional booking workflows fail under concurrent campus event demands</a:t>
            </a:r>
          </a:p>
        </p:txBody>
      </p:sp>
      <p:sp>
        <p:nvSpPr>
          <p:cNvPr id="4" name="Rectangle 3"/>
          <p:cNvSpPr/>
          <p:nvPr/>
        </p:nvSpPr>
        <p:spPr>
          <a:xfrm>
            <a:off x="731520" y="169164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7315200" cy="274320"/>
          </a:xfrm>
          <a:prstGeom prst="rect">
            <a:avLst/>
          </a:prstGeom>
          <a:noFill/>
        </p:spPr>
        <p:txBody>
          <a:bodyPr wrap="square" lIns="0" tIns="0">
            <a:spAutoFit/>
          </a:bodyPr>
          <a:lstStyle/>
          <a:p>
            <a:pPr>
              <a:defRPr sz="900">
                <a:solidFill>
                  <a:srgbClr val="64748B"/>
                </a:solidFill>
                <a:latin typeface="Calibri"/>
              </a:defRPr>
            </a:pPr>
            <a:r>
              <a:t>CSA1021 - Software Engineering | Capstone Project 2026 | Saveetha School of Engineering (SIMATS)</a:t>
            </a:r>
          </a:p>
        </p:txBody>
      </p:sp>
      <p:sp>
        <p:nvSpPr>
          <p:cNvPr id="6" name="TextBox 5"/>
          <p:cNvSpPr txBox="1"/>
          <p:nvPr/>
        </p:nvSpPr>
        <p:spPr>
          <a:xfrm>
            <a:off x="9601200" y="6400800"/>
            <a:ext cx="1828800" cy="274320"/>
          </a:xfrm>
          <a:prstGeom prst="rect">
            <a:avLst/>
          </a:prstGeom>
          <a:noFill/>
        </p:spPr>
        <p:txBody>
          <a:bodyPr wrap="square" rIns="0" tIns="0">
            <a:spAutoFit/>
          </a:bodyPr>
          <a:lstStyle/>
          <a:p>
            <a:pPr algn="r">
              <a:defRPr sz="900">
                <a:solidFill>
                  <a:srgbClr val="64748B"/>
                </a:solidFill>
                <a:latin typeface="Calibri"/>
              </a:defRPr>
            </a:pPr>
            <a:r>
              <a:t>Slide 5 of 8</a:t>
            </a:r>
          </a:p>
        </p:txBody>
      </p:sp>
      <p:sp>
        <p:nvSpPr>
          <p:cNvPr id="7" name="Rounded Rectangle 6"/>
          <p:cNvSpPr/>
          <p:nvPr/>
        </p:nvSpPr>
        <p:spPr>
          <a:xfrm>
            <a:off x="731520" y="1874519"/>
            <a:ext cx="5239512"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rIns="182880"/>
          <a:lstStyle/>
          <a:p>
            <a:pPr algn="ctr">
              <a:spcAft>
                <a:spcPts val="800"/>
              </a:spcAft>
              <a:defRPr sz="1300" b="1">
                <a:solidFill>
                  <a:srgbClr val="0F172A"/>
                </a:solidFill>
                <a:latin typeface="Calibri"/>
              </a:defRPr>
            </a:pPr>
            <a:r>
              <a:t>1. Coarse Granularity &amp; Partial Overlap Blindspots</a:t>
            </a:r>
          </a:p>
          <a:p>
            <a:pPr>
              <a:lnSpc>
                <a:spcPct val="120000"/>
              </a:lnSpc>
              <a:defRPr sz="1050">
                <a:solidFill>
                  <a:srgbClr val="334155"/>
                </a:solidFill>
                <a:latin typeface="Calibri"/>
              </a:defRPr>
            </a:pPr>
            <a:r>
              <a:t>Simple date-only checks (WHERE date = ?) fail to evaluate temporal ranges, missing partial overlaps (e.g., Event A from 10:00–12:30 colliding with Event B from 11:30–14:00) or complete interval envelopment (09:00–17:00 engulfing 13:00–15:00).</a:t>
            </a:r>
          </a:p>
        </p:txBody>
      </p:sp>
      <p:sp>
        <p:nvSpPr>
          <p:cNvPr id="8" name="Rectangle 7"/>
          <p:cNvSpPr/>
          <p:nvPr/>
        </p:nvSpPr>
        <p:spPr>
          <a:xfrm>
            <a:off x="731520" y="1874519"/>
            <a:ext cx="109728" cy="205740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874519"/>
            <a:ext cx="5239512"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rIns="182880"/>
          <a:lstStyle/>
          <a:p>
            <a:pPr algn="ctr">
              <a:spcAft>
                <a:spcPts val="800"/>
              </a:spcAft>
              <a:defRPr sz="1300" b="1">
                <a:solidFill>
                  <a:srgbClr val="0F172A"/>
                </a:solidFill>
                <a:latin typeface="Calibri"/>
              </a:defRPr>
            </a:pPr>
            <a:r>
              <a:t>2. Concurrency Vulnerabilities &amp; TOCTOU Race Conditions</a:t>
            </a:r>
          </a:p>
          <a:p>
            <a:pPr>
              <a:lnSpc>
                <a:spcPct val="120000"/>
              </a:lnSpc>
              <a:defRPr sz="1050">
                <a:solidFill>
                  <a:srgbClr val="334155"/>
                </a:solidFill>
                <a:latin typeface="Calibri"/>
              </a:defRPr>
            </a:pPr>
            <a:r>
              <a:t>When two coordinators request the same venue at 10:00:00 AM, unsynchronized backends execute the read check in parallel. Both threads find the room vacant, both pass validation, and both write INSERT records—guaranteeing an unmitigated double-booking.</a:t>
            </a:r>
          </a:p>
        </p:txBody>
      </p:sp>
      <p:sp>
        <p:nvSpPr>
          <p:cNvPr id="10" name="Rectangle 9"/>
          <p:cNvSpPr/>
          <p:nvPr/>
        </p:nvSpPr>
        <p:spPr>
          <a:xfrm>
            <a:off x="6217920" y="1874519"/>
            <a:ext cx="109728" cy="205740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4114800"/>
            <a:ext cx="5239512"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rIns="182880"/>
          <a:lstStyle/>
          <a:p>
            <a:pPr algn="ctr">
              <a:spcAft>
                <a:spcPts val="800"/>
              </a:spcAft>
              <a:defRPr sz="1300" b="1">
                <a:solidFill>
                  <a:srgbClr val="0F172A"/>
                </a:solidFill>
                <a:latin typeface="Calibri"/>
              </a:defRPr>
            </a:pPr>
            <a:r>
              <a:t>3. Multi-Round / Multi-Session Cascade Clashes</a:t>
            </a:r>
          </a:p>
          <a:p>
            <a:pPr>
              <a:lnSpc>
                <a:spcPct val="120000"/>
              </a:lnSpc>
              <a:defRPr sz="1050">
                <a:solidFill>
                  <a:srgbClr val="334155"/>
                </a:solidFill>
                <a:latin typeface="Calibri"/>
              </a:defRPr>
            </a:pPr>
            <a:r>
              <a:t>Multi-day symposiums and hackathons feature distinct sequential rounds (Screening Quiz, Mentoring, Semifinals, Final Pitching) distributed across diverse campus rooms. A single unhandled collision in Round 2 paralyzes the entire event pipeline.</a:t>
            </a:r>
          </a:p>
        </p:txBody>
      </p:sp>
      <p:sp>
        <p:nvSpPr>
          <p:cNvPr id="12" name="Rectangle 11"/>
          <p:cNvSpPr/>
          <p:nvPr/>
        </p:nvSpPr>
        <p:spPr>
          <a:xfrm>
            <a:off x="731520" y="4114800"/>
            <a:ext cx="109728" cy="205740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4114800"/>
            <a:ext cx="5239512"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rIns="182880"/>
          <a:lstStyle/>
          <a:p>
            <a:pPr algn="ctr">
              <a:spcAft>
                <a:spcPts val="800"/>
              </a:spcAft>
              <a:defRPr sz="1300" b="1">
                <a:solidFill>
                  <a:srgbClr val="0F172A"/>
                </a:solidFill>
                <a:latin typeface="Calibri"/>
              </a:defRPr>
            </a:pPr>
            <a:r>
              <a:t>4. Severe Operational &amp; Reputational Repercussions</a:t>
            </a:r>
          </a:p>
          <a:p>
            <a:pPr>
              <a:lnSpc>
                <a:spcPct val="120000"/>
              </a:lnSpc>
              <a:defRPr sz="1050">
                <a:solidFill>
                  <a:srgbClr val="334155"/>
                </a:solidFill>
                <a:latin typeface="Calibri"/>
              </a:defRPr>
            </a:pPr>
            <a:r>
              <a:t>Double-booked venues force last-minute emergency relocations, delayed hackathon tracks, microphone/AV resource conflicts, and significant loss of administrative trust between student organizers, department heads, and attendees.</a:t>
            </a:r>
          </a:p>
        </p:txBody>
      </p:sp>
      <p:sp>
        <p:nvSpPr>
          <p:cNvPr id="14" name="Rectangle 13"/>
          <p:cNvSpPr/>
          <p:nvPr/>
        </p:nvSpPr>
        <p:spPr>
          <a:xfrm>
            <a:off x="6217920" y="4114800"/>
            <a:ext cx="109728" cy="205740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411480"/>
            <a:ext cx="411480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ctr">
              <a:defRPr sz="950" b="1">
                <a:solidFill>
                  <a:srgbClr val="312E81"/>
                </a:solidFill>
                <a:latin typeface="Calibri"/>
              </a:defRPr>
            </a:pPr>
            <a:r>
              <a:t>STATE OF THE ART (2025-2026)</a:t>
            </a:r>
          </a:p>
        </p:txBody>
      </p:sp>
      <p:sp>
        <p:nvSpPr>
          <p:cNvPr id="3" name="TextBox 2"/>
          <p:cNvSpPr txBox="1"/>
          <p:nvPr/>
        </p:nvSpPr>
        <p:spPr>
          <a:xfrm>
            <a:off x="731520" y="777240"/>
            <a:ext cx="10698480" cy="868680"/>
          </a:xfrm>
          <a:prstGeom prst="rect">
            <a:avLst/>
          </a:prstGeom>
          <a:noFill/>
        </p:spPr>
        <p:txBody>
          <a:bodyPr wrap="square" lIns="0" tIns="0" rIns="0" bIns="0">
            <a:spAutoFit/>
          </a:bodyPr>
          <a:lstStyle/>
          <a:p>
            <a:pPr>
              <a:defRPr sz="2200" b="1">
                <a:solidFill>
                  <a:srgbClr val="1A365D"/>
                </a:solidFill>
                <a:latin typeface="Calibri"/>
              </a:defRPr>
            </a:pPr>
            <a:r>
              <a:t>Literature Survey: Contemporary Scheduling Systems</a:t>
            </a:r>
          </a:p>
          <a:p>
            <a:pPr>
              <a:spcBef>
                <a:spcPts val="300"/>
              </a:spcBef>
              <a:defRPr sz="1200">
                <a:solidFill>
                  <a:srgbClr val="64748B"/>
                </a:solidFill>
                <a:latin typeface="Calibri"/>
              </a:defRPr>
            </a:pPr>
            <a:r>
              <a:t>Comparative analysis of recent peer-reviewed approaches in timetable and venue scheduling</a:t>
            </a:r>
          </a:p>
        </p:txBody>
      </p:sp>
      <p:sp>
        <p:nvSpPr>
          <p:cNvPr id="4" name="Rectangle 3"/>
          <p:cNvSpPr/>
          <p:nvPr/>
        </p:nvSpPr>
        <p:spPr>
          <a:xfrm>
            <a:off x="731520" y="169164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7315200" cy="274320"/>
          </a:xfrm>
          <a:prstGeom prst="rect">
            <a:avLst/>
          </a:prstGeom>
          <a:noFill/>
        </p:spPr>
        <p:txBody>
          <a:bodyPr wrap="square" lIns="0" tIns="0">
            <a:spAutoFit/>
          </a:bodyPr>
          <a:lstStyle/>
          <a:p>
            <a:pPr>
              <a:defRPr sz="900">
                <a:solidFill>
                  <a:srgbClr val="64748B"/>
                </a:solidFill>
                <a:latin typeface="Calibri"/>
              </a:defRPr>
            </a:pPr>
            <a:r>
              <a:t>CSA1021 - Software Engineering | Capstone Project 2026 | Saveetha School of Engineering (SIMATS)</a:t>
            </a:r>
          </a:p>
        </p:txBody>
      </p:sp>
      <p:sp>
        <p:nvSpPr>
          <p:cNvPr id="6" name="TextBox 5"/>
          <p:cNvSpPr txBox="1"/>
          <p:nvPr/>
        </p:nvSpPr>
        <p:spPr>
          <a:xfrm>
            <a:off x="9601200" y="6400800"/>
            <a:ext cx="1828800" cy="274320"/>
          </a:xfrm>
          <a:prstGeom prst="rect">
            <a:avLst/>
          </a:prstGeom>
          <a:noFill/>
        </p:spPr>
        <p:txBody>
          <a:bodyPr wrap="square" rIns="0" tIns="0">
            <a:spAutoFit/>
          </a:bodyPr>
          <a:lstStyle/>
          <a:p>
            <a:pPr algn="r">
              <a:defRPr sz="900">
                <a:solidFill>
                  <a:srgbClr val="64748B"/>
                </a:solidFill>
                <a:latin typeface="Calibri"/>
              </a:defRPr>
            </a:pPr>
            <a:r>
              <a:t>Slide 6 of 8</a:t>
            </a:r>
          </a:p>
        </p:txBody>
      </p:sp>
      <p:graphicFrame>
        <p:nvGraphicFramePr>
          <p:cNvPr id="7" name="Table 6"/>
          <p:cNvGraphicFramePr>
            <a:graphicFrameLocks noGrp="1"/>
          </p:cNvGraphicFramePr>
          <p:nvPr/>
        </p:nvGraphicFramePr>
        <p:xfrm>
          <a:off x="731520" y="1874519"/>
          <a:ext cx="10725912" cy="4297680"/>
        </p:xfrm>
        <a:graphic>
          <a:graphicData uri="http://schemas.openxmlformats.org/drawingml/2006/table">
            <a:tbl>
              <a:tblPr firstRow="1" bandRow="1">
                <a:tableStyleId>{5C22544A-7EE6-4342-B048-85BDC9FD1C3A}</a:tableStyleId>
              </a:tblPr>
              <a:tblGrid>
                <a:gridCol w="2926080"/>
                <a:gridCol w="2286000"/>
                <a:gridCol w="2560320"/>
                <a:gridCol w="2953512"/>
              </a:tblGrid>
              <a:tr h="859536">
                <a:tc>
                  <a:txBody>
                    <a:bodyPr wrap="square" tIns="73152"/>
                    <a:lstStyle/>
                    <a:p>
                      <a:pPr>
                        <a:defRPr sz="1100" b="1">
                          <a:solidFill>
                            <a:srgbClr val="FFFFFF"/>
                          </a:solidFill>
                          <a:latin typeface="Calibri"/>
                        </a:defRPr>
                      </a:pPr>
                      <a:r>
                        <a:t>Paper Title &amp; Source (Year)</a:t>
                      </a:r>
                    </a:p>
                  </a:txBody>
                  <a:tcPr>
                    <a:solidFill>
                      <a:srgbClr val="1A365D"/>
                    </a:solidFill>
                  </a:tcPr>
                </a:tc>
                <a:tc>
                  <a:txBody>
                    <a:bodyPr wrap="square" tIns="73152"/>
                    <a:lstStyle/>
                    <a:p>
                      <a:pPr>
                        <a:defRPr sz="1100" b="1">
                          <a:solidFill>
                            <a:srgbClr val="FFFFFF"/>
                          </a:solidFill>
                          <a:latin typeface="Calibri"/>
                        </a:defRPr>
                      </a:pPr>
                      <a:r>
                        <a:t>Core Methodology</a:t>
                      </a:r>
                    </a:p>
                  </a:txBody>
                  <a:tcPr>
                    <a:solidFill>
                      <a:srgbClr val="1A365D"/>
                    </a:solidFill>
                  </a:tcPr>
                </a:tc>
                <a:tc>
                  <a:txBody>
                    <a:bodyPr wrap="square" tIns="73152"/>
                    <a:lstStyle/>
                    <a:p>
                      <a:pPr>
                        <a:defRPr sz="1100" b="1">
                          <a:solidFill>
                            <a:srgbClr val="FFFFFF"/>
                          </a:solidFill>
                          <a:latin typeface="Calibri"/>
                        </a:defRPr>
                      </a:pPr>
                      <a:r>
                        <a:t>Key Strengths</a:t>
                      </a:r>
                    </a:p>
                  </a:txBody>
                  <a:tcPr>
                    <a:solidFill>
                      <a:srgbClr val="1A365D"/>
                    </a:solidFill>
                  </a:tcPr>
                </a:tc>
                <a:tc>
                  <a:txBody>
                    <a:bodyPr wrap="square" tIns="73152"/>
                    <a:lstStyle/>
                    <a:p>
                      <a:pPr>
                        <a:defRPr sz="1100" b="1">
                          <a:solidFill>
                            <a:srgbClr val="FFFFFF"/>
                          </a:solidFill>
                          <a:latin typeface="Calibri"/>
                        </a:defRPr>
                      </a:pPr>
                      <a:r>
                        <a:t>Inherent Limitations &amp; EventFlow Gap</a:t>
                      </a:r>
                    </a:p>
                  </a:txBody>
                  <a:tcPr>
                    <a:solidFill>
                      <a:srgbClr val="1A365D"/>
                    </a:solidFill>
                  </a:tcPr>
                </a:tc>
              </a:tr>
              <a:tr h="859536">
                <a:tc>
                  <a:txBody>
                    <a:bodyPr wrap="square" tIns="73152" lIns="109728" rIns="109728"/>
                    <a:lstStyle/>
                    <a:p>
                      <a:pPr>
                        <a:defRPr sz="950" b="1">
                          <a:solidFill>
                            <a:srgbClr val="0F172A"/>
                          </a:solidFill>
                          <a:latin typeface="Calibri"/>
                        </a:defRPr>
                      </a:pPr>
                      <a:r>
                        <a:t>A Course Scheduling System Based on an Improved Genetic Algorithm</a:t>
                      </a:r>
                      <a:br/>
                      <a:r>
                        <a:t>(NHSJS Reports, 2025)</a:t>
                      </a:r>
                    </a:p>
                  </a:txBody>
                  <a:tcPr>
                    <a:solidFill>
                      <a:srgbClr val="F8FAFC"/>
                    </a:solidFill>
                  </a:tcPr>
                </a:tc>
                <a:tc>
                  <a:txBody>
                    <a:bodyPr wrap="square" tIns="73152" lIns="109728" rIns="109728"/>
                    <a:lstStyle/>
                    <a:p>
                      <a:pPr>
                        <a:defRPr sz="950">
                          <a:solidFill>
                            <a:srgbClr val="334155"/>
                          </a:solidFill>
                          <a:latin typeface="Calibri"/>
                        </a:defRPr>
                      </a:pPr>
                      <a:r>
                        <a:t>Improved Genetic Algorithm (GA) with adaptive mutation rates and penalty weighting for teacher/room clashes.</a:t>
                      </a:r>
                    </a:p>
                  </a:txBody>
                  <a:tcPr>
                    <a:solidFill>
                      <a:srgbClr val="F8FAFC"/>
                    </a:solidFill>
                  </a:tcPr>
                </a:tc>
                <a:tc>
                  <a:txBody>
                    <a:bodyPr wrap="square" tIns="73152" lIns="109728" rIns="109728"/>
                    <a:lstStyle/>
                    <a:p>
                      <a:pPr>
                        <a:defRPr sz="950">
                          <a:solidFill>
                            <a:srgbClr val="334155"/>
                          </a:solidFill>
                          <a:latin typeface="Calibri"/>
                        </a:defRPr>
                      </a:pPr>
                      <a:r>
                        <a:t>Effectively optimizes complex multi-constraint static academic timetables across departments.</a:t>
                      </a:r>
                    </a:p>
                  </a:txBody>
                  <a:tcPr>
                    <a:solidFill>
                      <a:srgbClr val="F8FAFC"/>
                    </a:solidFill>
                  </a:tcPr>
                </a:tc>
                <a:tc>
                  <a:txBody>
                    <a:bodyPr wrap="square" tIns="73152" lIns="109728" rIns="109728"/>
                    <a:lstStyle/>
                    <a:p>
                      <a:pPr>
                        <a:defRPr sz="950">
                          <a:solidFill>
                            <a:srgbClr val="334155"/>
                          </a:solidFill>
                          <a:latin typeface="Calibri"/>
                        </a:defRPr>
                      </a:pPr>
                      <a:r>
                        <a:t>Tested only on small static batches; heavy O(G · P) computational overhead; non-viable for instantaneous web booking requests.</a:t>
                      </a:r>
                    </a:p>
                  </a:txBody>
                  <a:tcPr>
                    <a:solidFill>
                      <a:srgbClr val="F8FAFC"/>
                    </a:solidFill>
                  </a:tcPr>
                </a:tc>
              </a:tr>
              <a:tr h="859536">
                <a:tc>
                  <a:txBody>
                    <a:bodyPr wrap="square" tIns="73152" lIns="109728" rIns="109728"/>
                    <a:lstStyle/>
                    <a:p>
                      <a:pPr>
                        <a:defRPr sz="950" b="1">
                          <a:solidFill>
                            <a:srgbClr val="0F172A"/>
                          </a:solidFill>
                          <a:latin typeface="Calibri"/>
                        </a:defRPr>
                      </a:pPr>
                      <a:r>
                        <a:t>Automated Class Scheduling: Ensuring Conflict-Free &amp; Optimized Timetables</a:t>
                      </a:r>
                      <a:br/>
                      <a:r>
                        <a:t>(Khulna Univ. Studies, Dec 2025)</a:t>
                      </a:r>
                    </a:p>
                  </a:txBody>
                  <a:tcPr>
                    <a:solidFill>
                      <a:srgbClr val="FFFFFF"/>
                    </a:solidFill>
                  </a:tcPr>
                </a:tc>
                <a:tc>
                  <a:txBody>
                    <a:bodyPr wrap="square" tIns="73152" lIns="109728" rIns="109728"/>
                    <a:lstStyle/>
                    <a:p>
                      <a:pPr>
                        <a:defRPr sz="950">
                          <a:solidFill>
                            <a:srgbClr val="334155"/>
                          </a:solidFill>
                          <a:latin typeface="Calibri"/>
                        </a:defRPr>
                      </a:pPr>
                      <a:r>
                        <a:t>Heuristic-driven automated timetable generator optimizing room and teacher allocations.</a:t>
                      </a:r>
                    </a:p>
                  </a:txBody>
                  <a:tcPr>
                    <a:solidFill>
                      <a:srgbClr val="FFFFFF"/>
                    </a:solidFill>
                  </a:tcPr>
                </a:tc>
                <a:tc>
                  <a:txBody>
                    <a:bodyPr wrap="square" tIns="73152" lIns="109728" rIns="109728"/>
                    <a:lstStyle/>
                    <a:p>
                      <a:pPr>
                        <a:defRPr sz="950">
                          <a:solidFill>
                            <a:srgbClr val="334155"/>
                          </a:solidFill>
                          <a:latin typeface="Calibri"/>
                        </a:defRPr>
                      </a:pPr>
                      <a:r>
                        <a:t>Produces clash-free class routines in pre-planned, fixed semester configurations.</a:t>
                      </a:r>
                    </a:p>
                  </a:txBody>
                  <a:tcPr>
                    <a:solidFill>
                      <a:srgbClr val="FFFFFF"/>
                    </a:solidFill>
                  </a:tcPr>
                </a:tc>
                <a:tc>
                  <a:txBody>
                    <a:bodyPr wrap="square" tIns="73152" lIns="109728" rIns="109728"/>
                    <a:lstStyle/>
                    <a:p>
                      <a:pPr>
                        <a:defRPr sz="950">
                          <a:solidFill>
                            <a:srgbClr val="334155"/>
                          </a:solidFill>
                          <a:latin typeface="Calibri"/>
                        </a:defRPr>
                      </a:pPr>
                      <a:r>
                        <a:t>Assumes static offline constraints; lacks dynamic ad-hoc request handling and concurrent web transaction safety.</a:t>
                      </a:r>
                    </a:p>
                  </a:txBody>
                  <a:tcPr>
                    <a:solidFill>
                      <a:srgbClr val="FFFFFF"/>
                    </a:solidFill>
                  </a:tcPr>
                </a:tc>
              </a:tr>
              <a:tr h="859536">
                <a:tc>
                  <a:txBody>
                    <a:bodyPr wrap="square" tIns="73152" lIns="109728" rIns="109728"/>
                    <a:lstStyle/>
                    <a:p>
                      <a:pPr>
                        <a:defRPr sz="950" b="1">
                          <a:solidFill>
                            <a:srgbClr val="0F172A"/>
                          </a:solidFill>
                          <a:latin typeface="Calibri"/>
                        </a:defRPr>
                      </a:pPr>
                      <a:r>
                        <a:t>Explicit AI-Based Timetable Generator using Genetic Algorithm</a:t>
                      </a:r>
                      <a:br/>
                      <a:r>
                        <a:t>(Open J. of Applied Sciences, 2025)</a:t>
                      </a:r>
                    </a:p>
                  </a:txBody>
                  <a:tcPr>
                    <a:solidFill>
                      <a:srgbClr val="F8FAFC"/>
                    </a:solidFill>
                  </a:tcPr>
                </a:tc>
                <a:tc>
                  <a:txBody>
                    <a:bodyPr wrap="square" tIns="73152" lIns="109728" rIns="109728"/>
                    <a:lstStyle/>
                    <a:p>
                      <a:pPr>
                        <a:defRPr sz="950">
                          <a:solidFill>
                            <a:srgbClr val="334155"/>
                          </a:solidFill>
                          <a:latin typeface="Calibri"/>
                        </a:defRPr>
                      </a:pPr>
                      <a:r>
                        <a:t>AI-assisted Genetic Algorithm optimizing multidimensional lecturer, classroom, and student vectors.</a:t>
                      </a:r>
                    </a:p>
                  </a:txBody>
                  <a:tcPr>
                    <a:solidFill>
                      <a:srgbClr val="F8FAFC"/>
                    </a:solidFill>
                  </a:tcPr>
                </a:tc>
                <a:tc>
                  <a:txBody>
                    <a:bodyPr wrap="square" tIns="73152" lIns="109728" rIns="109728"/>
                    <a:lstStyle/>
                    <a:p>
                      <a:pPr>
                        <a:defRPr sz="950">
                          <a:solidFill>
                            <a:srgbClr val="334155"/>
                          </a:solidFill>
                          <a:latin typeface="Calibri"/>
                        </a:defRPr>
                      </a:pPr>
                      <a:r>
                        <a:t>High flexibility in handling soft/hard educational constraints and room preferences.</a:t>
                      </a:r>
                    </a:p>
                  </a:txBody>
                  <a:tcPr>
                    <a:solidFill>
                      <a:srgbClr val="F8FAFC"/>
                    </a:solidFill>
                  </a:tcPr>
                </a:tc>
                <a:tc>
                  <a:txBody>
                    <a:bodyPr wrap="square" tIns="73152" lIns="109728" rIns="109728"/>
                    <a:lstStyle/>
                    <a:p>
                      <a:pPr>
                        <a:defRPr sz="950">
                          <a:solidFill>
                            <a:srgbClr val="334155"/>
                          </a:solidFill>
                          <a:latin typeface="Calibri"/>
                        </a:defRPr>
                      </a:pPr>
                      <a:r>
                        <a:t>Stochastic and non-deterministic; requires hundreds of generations; latency prevents sub-second user API responses.</a:t>
                      </a:r>
                    </a:p>
                  </a:txBody>
                  <a:tcPr>
                    <a:solidFill>
                      <a:srgbClr val="F8FAFC"/>
                    </a:solidFill>
                  </a:tcPr>
                </a:tc>
              </a:tr>
              <a:tr h="859536">
                <a:tc>
                  <a:txBody>
                    <a:bodyPr wrap="square" tIns="73152" lIns="109728" rIns="109728"/>
                    <a:lstStyle/>
                    <a:p>
                      <a:pPr>
                        <a:defRPr sz="950" b="1">
                          <a:solidFill>
                            <a:srgbClr val="0F172A"/>
                          </a:solidFill>
                          <a:latin typeface="Calibri"/>
                        </a:defRPr>
                      </a:pPr>
                      <a:r>
                        <a:t>Isabela State University Class Scheduling Algorithm (ISUCSA)</a:t>
                      </a:r>
                      <a:br/>
                      <a:r>
                        <a:t>(J. Inf. Systems Eng. &amp; Mgmt, 2025)</a:t>
                      </a:r>
                    </a:p>
                  </a:txBody>
                  <a:tcPr>
                    <a:solidFill>
                      <a:srgbClr val="FFFFFF"/>
                    </a:solidFill>
                  </a:tcPr>
                </a:tc>
                <a:tc>
                  <a:txBody>
                    <a:bodyPr wrap="square" tIns="73152" lIns="109728" rIns="109728"/>
                    <a:lstStyle/>
                    <a:p>
                      <a:pPr>
                        <a:defRPr sz="950">
                          <a:solidFill>
                            <a:srgbClr val="334155"/>
                          </a:solidFill>
                          <a:latin typeface="Calibri"/>
                        </a:defRPr>
                      </a:pPr>
                      <a:r>
                        <a:t>Hybrid evolutionary model combining Genetic Algorithms with a deterministic greedy assignment phase.</a:t>
                      </a:r>
                    </a:p>
                  </a:txBody>
                  <a:tcPr>
                    <a:solidFill>
                      <a:srgbClr val="FFFFFF"/>
                    </a:solidFill>
                  </a:tcPr>
                </a:tc>
                <a:tc>
                  <a:txBody>
                    <a:bodyPr wrap="square" tIns="73152" lIns="109728" rIns="109728"/>
                    <a:lstStyle/>
                    <a:p>
                      <a:pPr>
                        <a:defRPr sz="950">
                          <a:solidFill>
                            <a:srgbClr val="334155"/>
                          </a:solidFill>
                          <a:latin typeface="Calibri"/>
                        </a:defRPr>
                      </a:pPr>
                      <a:r>
                        <a:t>Accelerates convergence compared to pure GA; effectively assigns room capacities.</a:t>
                      </a:r>
                    </a:p>
                  </a:txBody>
                  <a:tcPr>
                    <a:solidFill>
                      <a:srgbClr val="FFFFFF"/>
                    </a:solidFill>
                  </a:tcPr>
                </a:tc>
                <a:tc>
                  <a:txBody>
                    <a:bodyPr wrap="square" tIns="73152" lIns="109728" rIns="109728"/>
                    <a:lstStyle/>
                    <a:p>
                      <a:pPr>
                        <a:defRPr sz="950">
                          <a:solidFill>
                            <a:srgbClr val="334155"/>
                          </a:solidFill>
                          <a:latin typeface="Calibri"/>
                        </a:defRPr>
                      </a:pPr>
                      <a:r>
                        <a:t>Designed strictly for annual curriculum planning; zero provision for real-time web concurrency or atomic interval locking.</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411480"/>
            <a:ext cx="411480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ctr">
              <a:defRPr sz="950" b="1">
                <a:solidFill>
                  <a:srgbClr val="312E81"/>
                </a:solidFill>
                <a:latin typeface="Calibri"/>
              </a:defRPr>
            </a:pPr>
            <a:r>
              <a:t>COMPARATIVE DEFICIENCY ANALYSIS</a:t>
            </a:r>
          </a:p>
        </p:txBody>
      </p:sp>
      <p:sp>
        <p:nvSpPr>
          <p:cNvPr id="3" name="TextBox 2"/>
          <p:cNvSpPr txBox="1"/>
          <p:nvPr/>
        </p:nvSpPr>
        <p:spPr>
          <a:xfrm>
            <a:off x="731520" y="777240"/>
            <a:ext cx="10698480" cy="868680"/>
          </a:xfrm>
          <a:prstGeom prst="rect">
            <a:avLst/>
          </a:prstGeom>
          <a:noFill/>
        </p:spPr>
        <p:txBody>
          <a:bodyPr wrap="square" lIns="0" tIns="0" rIns="0" bIns="0">
            <a:spAutoFit/>
          </a:bodyPr>
          <a:lstStyle/>
          <a:p>
            <a:pPr>
              <a:defRPr sz="2200" b="1">
                <a:solidFill>
                  <a:srgbClr val="1A365D"/>
                </a:solidFill>
                <a:latin typeface="Calibri"/>
              </a:defRPr>
            </a:pPr>
            <a:r>
              <a:t>Existing Methods vs. Algorithmic Bottlenecks</a:t>
            </a:r>
          </a:p>
          <a:p>
            <a:pPr>
              <a:spcBef>
                <a:spcPts val="300"/>
              </a:spcBef>
              <a:defRPr sz="1200">
                <a:solidFill>
                  <a:srgbClr val="64748B"/>
                </a:solidFill>
                <a:latin typeface="Calibri"/>
              </a:defRPr>
            </a:pPr>
            <a:r>
              <a:t>Systematic critique of conventional booking mechanisms and scheduling heuristics</a:t>
            </a:r>
          </a:p>
        </p:txBody>
      </p:sp>
      <p:sp>
        <p:nvSpPr>
          <p:cNvPr id="4" name="Rectangle 3"/>
          <p:cNvSpPr/>
          <p:nvPr/>
        </p:nvSpPr>
        <p:spPr>
          <a:xfrm>
            <a:off x="731520" y="169164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7315200" cy="274320"/>
          </a:xfrm>
          <a:prstGeom prst="rect">
            <a:avLst/>
          </a:prstGeom>
          <a:noFill/>
        </p:spPr>
        <p:txBody>
          <a:bodyPr wrap="square" lIns="0" tIns="0">
            <a:spAutoFit/>
          </a:bodyPr>
          <a:lstStyle/>
          <a:p>
            <a:pPr>
              <a:defRPr sz="900">
                <a:solidFill>
                  <a:srgbClr val="64748B"/>
                </a:solidFill>
                <a:latin typeface="Calibri"/>
              </a:defRPr>
            </a:pPr>
            <a:r>
              <a:t>CSA1021 - Software Engineering | Capstone Project 2026 | Saveetha School of Engineering (SIMATS)</a:t>
            </a:r>
          </a:p>
        </p:txBody>
      </p:sp>
      <p:sp>
        <p:nvSpPr>
          <p:cNvPr id="6" name="TextBox 5"/>
          <p:cNvSpPr txBox="1"/>
          <p:nvPr/>
        </p:nvSpPr>
        <p:spPr>
          <a:xfrm>
            <a:off x="9601200" y="6400800"/>
            <a:ext cx="1828800" cy="274320"/>
          </a:xfrm>
          <a:prstGeom prst="rect">
            <a:avLst/>
          </a:prstGeom>
          <a:noFill/>
        </p:spPr>
        <p:txBody>
          <a:bodyPr wrap="square" rIns="0" tIns="0">
            <a:spAutoFit/>
          </a:bodyPr>
          <a:lstStyle/>
          <a:p>
            <a:pPr algn="r">
              <a:defRPr sz="900">
                <a:solidFill>
                  <a:srgbClr val="64748B"/>
                </a:solidFill>
                <a:latin typeface="Calibri"/>
              </a:defRPr>
            </a:pPr>
            <a:r>
              <a:t>Slide 7 of 8</a:t>
            </a:r>
          </a:p>
        </p:txBody>
      </p:sp>
      <p:sp>
        <p:nvSpPr>
          <p:cNvPr id="7" name="Rounded Rectangle 6"/>
          <p:cNvSpPr/>
          <p:nvPr/>
        </p:nvSpPr>
        <p:spPr>
          <a:xfrm>
            <a:off x="731520" y="1874519"/>
            <a:ext cx="10725912" cy="804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73152" rIns="182880"/>
          <a:lstStyle/>
          <a:p>
            <a:pPr algn="ctr">
              <a:spcAft>
                <a:spcPts val="200"/>
              </a:spcAft>
              <a:defRPr sz="1150" b="1">
                <a:solidFill>
                  <a:srgbClr val="1A365D"/>
                </a:solidFill>
                <a:latin typeface="Calibri"/>
              </a:defRPr>
            </a:pPr>
            <a:r>
              <a:t>1. Manual Spreadsheets &amp; Paper Registers</a:t>
            </a:r>
          </a:p>
          <a:p>
            <a:pPr>
              <a:lnSpc>
                <a:spcPct val="115000"/>
              </a:lnSpc>
              <a:defRPr sz="950">
                <a:solidFill>
                  <a:srgbClr val="334155"/>
                </a:solidFill>
                <a:latin typeface="Calibri"/>
              </a:defRPr>
            </a:pPr>
            <a:r>
              <a:t>Institutional Workflow: Coordinators log requests via Google Forms or Excel; staff manually check calendars.</a:t>
            </a:r>
            <a:br/>
            <a:r>
              <a:t>Critical Flaw: Latent conflict discovery—clashes are identified only after both parties receive confirmation. Sluggish and highly error-prone under high event volume.</a:t>
            </a:r>
          </a:p>
        </p:txBody>
      </p:sp>
      <p:sp>
        <p:nvSpPr>
          <p:cNvPr id="8" name="Rectangle 7"/>
          <p:cNvSpPr/>
          <p:nvPr/>
        </p:nvSpPr>
        <p:spPr>
          <a:xfrm>
            <a:off x="731520" y="1874519"/>
            <a:ext cx="91440" cy="804672"/>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2752343"/>
            <a:ext cx="10725912" cy="804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73152" rIns="182880"/>
          <a:lstStyle/>
          <a:p>
            <a:pPr algn="ctr">
              <a:spcAft>
                <a:spcPts val="200"/>
              </a:spcAft>
              <a:defRPr sz="1150" b="1">
                <a:solidFill>
                  <a:srgbClr val="1A365D"/>
                </a:solidFill>
                <a:latin typeface="Calibri"/>
              </a:defRPr>
            </a:pPr>
            <a:r>
              <a:t>2. Coarse Date-Level Database Filters</a:t>
            </a:r>
          </a:p>
          <a:p>
            <a:pPr>
              <a:lnSpc>
                <a:spcPct val="115000"/>
              </a:lnSpc>
              <a:defRPr sz="950">
                <a:solidFill>
                  <a:srgbClr val="334155"/>
                </a:solidFill>
                <a:latin typeface="Calibri"/>
              </a:defRPr>
            </a:pPr>
            <a:r>
              <a:t>Institutional Workflow: Basic SQL validation checking WHERE date = ? AND venue = ?.</a:t>
            </a:r>
            <a:br/>
            <a:r>
              <a:t>Critical Flaw: Coarse temporal resolution—blind to hour/minute intervals. Either rejects non-overlapping events occurring on the same date or admits destructive intra-day overlaps.</a:t>
            </a:r>
          </a:p>
        </p:txBody>
      </p:sp>
      <p:sp>
        <p:nvSpPr>
          <p:cNvPr id="10" name="Rectangle 9"/>
          <p:cNvSpPr/>
          <p:nvPr/>
        </p:nvSpPr>
        <p:spPr>
          <a:xfrm>
            <a:off x="731520" y="2752343"/>
            <a:ext cx="91440" cy="804672"/>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3630167"/>
            <a:ext cx="10725912" cy="804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73152" rIns="182880"/>
          <a:lstStyle/>
          <a:p>
            <a:pPr algn="ctr">
              <a:spcAft>
                <a:spcPts val="200"/>
              </a:spcAft>
              <a:defRPr sz="1150" b="1">
                <a:solidFill>
                  <a:srgbClr val="1A365D"/>
                </a:solidFill>
                <a:latin typeface="Calibri"/>
              </a:defRPr>
            </a:pPr>
            <a:r>
              <a:t>3. Genetic Algorithms &amp; Heuristics (Literature)</a:t>
            </a:r>
          </a:p>
          <a:p>
            <a:pPr>
              <a:lnSpc>
                <a:spcPct val="115000"/>
              </a:lnSpc>
              <a:defRPr sz="950">
                <a:solidFill>
                  <a:srgbClr val="334155"/>
                </a:solidFill>
                <a:latin typeface="Calibri"/>
              </a:defRPr>
            </a:pPr>
            <a:r>
              <a:t>Institutional Workflow: Iterative multi-generational population optimization (reviewed in Slide 6).</a:t>
            </a:r>
            <a:br/>
            <a:r>
              <a:t>Critical Flaw: Massive computational overhead O(G · P · C) with stochastic latency (seconds to minutes). Unsuitable for interactive, real-time web booking APIs.</a:t>
            </a:r>
          </a:p>
        </p:txBody>
      </p:sp>
      <p:sp>
        <p:nvSpPr>
          <p:cNvPr id="12" name="Rectangle 11"/>
          <p:cNvSpPr/>
          <p:nvPr/>
        </p:nvSpPr>
        <p:spPr>
          <a:xfrm>
            <a:off x="731520" y="3630167"/>
            <a:ext cx="91440" cy="8046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4507991"/>
            <a:ext cx="10725912" cy="804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73152" rIns="182880"/>
          <a:lstStyle/>
          <a:p>
            <a:pPr algn="ctr">
              <a:spcAft>
                <a:spcPts val="200"/>
              </a:spcAft>
              <a:defRPr sz="1150" b="1">
                <a:solidFill>
                  <a:srgbClr val="1A365D"/>
                </a:solidFill>
                <a:latin typeface="Calibri"/>
              </a:defRPr>
            </a:pPr>
            <a:r>
              <a:t>4. Unsynchronized 'Check-Then-Save' Architectures</a:t>
            </a:r>
          </a:p>
          <a:p>
            <a:pPr>
              <a:lnSpc>
                <a:spcPct val="115000"/>
              </a:lnSpc>
              <a:defRPr sz="950">
                <a:solidFill>
                  <a:srgbClr val="334155"/>
                </a:solidFill>
                <a:latin typeface="Calibri"/>
              </a:defRPr>
            </a:pPr>
            <a:r>
              <a:t>Institutional Workflow: Standard web endpoints executing SELECT availability followed by separate INSERT.</a:t>
            </a:r>
            <a:br/>
            <a:r>
              <a:t>Critical Flaw: Vulnerable to Time-of-Check to Time-of-Use (TOCTOU) race conditions—simultaneous client requests both evaluate as vacant before either commits.</a:t>
            </a:r>
          </a:p>
        </p:txBody>
      </p:sp>
      <p:sp>
        <p:nvSpPr>
          <p:cNvPr id="14" name="Rectangle 13"/>
          <p:cNvSpPr/>
          <p:nvPr/>
        </p:nvSpPr>
        <p:spPr>
          <a:xfrm>
            <a:off x="731520" y="4507991"/>
            <a:ext cx="91440" cy="804672"/>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1520" y="5385815"/>
            <a:ext cx="10725912" cy="804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73152" rIns="182880"/>
          <a:lstStyle/>
          <a:p>
            <a:pPr algn="ctr">
              <a:spcAft>
                <a:spcPts val="200"/>
              </a:spcAft>
              <a:defRPr sz="1150" b="1">
                <a:solidFill>
                  <a:srgbClr val="1A365D"/>
                </a:solidFill>
                <a:latin typeface="Calibri"/>
              </a:defRPr>
            </a:pPr>
            <a:r>
              <a:t>5. Naive Pairwise Interval Comparisons</a:t>
            </a:r>
          </a:p>
          <a:p>
            <a:pPr>
              <a:lnSpc>
                <a:spcPct val="115000"/>
              </a:lnSpc>
              <a:defRPr sz="950">
                <a:solidFill>
                  <a:srgbClr val="334155"/>
                </a:solidFill>
                <a:latin typeface="Calibri"/>
              </a:defRPr>
            </a:pPr>
            <a:r>
              <a:t>Institutional Workflow: Comparing every incoming reservation linearly against all historical records.</a:t>
            </a:r>
            <a:br/>
            <a:r>
              <a:t>Critical Flaw: Quadratic O(N^2) scalability degradation as the semester booking database grows, causing severe latency spikes during peak festival registration windows.</a:t>
            </a:r>
          </a:p>
        </p:txBody>
      </p:sp>
      <p:sp>
        <p:nvSpPr>
          <p:cNvPr id="16" name="Rectangle 15"/>
          <p:cNvSpPr/>
          <p:nvPr/>
        </p:nvSpPr>
        <p:spPr>
          <a:xfrm>
            <a:off x="731520" y="5385815"/>
            <a:ext cx="91440" cy="8046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411480"/>
            <a:ext cx="411480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ctr">
              <a:defRPr sz="950" b="1">
                <a:solidFill>
                  <a:srgbClr val="312E81"/>
                </a:solidFill>
                <a:latin typeface="Calibri"/>
              </a:defRPr>
            </a:pPr>
            <a:r>
              <a:t>ARCHITECTURAL FRAMEWORK</a:t>
            </a:r>
          </a:p>
        </p:txBody>
      </p:sp>
      <p:sp>
        <p:nvSpPr>
          <p:cNvPr id="3" name="TextBox 2"/>
          <p:cNvSpPr txBox="1"/>
          <p:nvPr/>
        </p:nvSpPr>
        <p:spPr>
          <a:xfrm>
            <a:off x="731520" y="777240"/>
            <a:ext cx="10698480" cy="868680"/>
          </a:xfrm>
          <a:prstGeom prst="rect">
            <a:avLst/>
          </a:prstGeom>
          <a:noFill/>
        </p:spPr>
        <p:txBody>
          <a:bodyPr wrap="square" lIns="0" tIns="0" rIns="0" bIns="0">
            <a:spAutoFit/>
          </a:bodyPr>
          <a:lstStyle/>
          <a:p>
            <a:pPr>
              <a:defRPr sz="2200" b="1">
                <a:solidFill>
                  <a:srgbClr val="1A365D"/>
                </a:solidFill>
                <a:latin typeface="Calibri"/>
              </a:defRPr>
            </a:pPr>
            <a:r>
              <a:t>Proposed Methodology: Algorithmic Interval Scheduling &amp; Concurrency Control</a:t>
            </a:r>
          </a:p>
          <a:p>
            <a:pPr>
              <a:spcBef>
                <a:spcPts val="300"/>
              </a:spcBef>
              <a:defRPr sz="1200">
                <a:solidFill>
                  <a:srgbClr val="64748B"/>
                </a:solidFill>
                <a:latin typeface="Calibri"/>
              </a:defRPr>
            </a:pPr>
            <a:r>
              <a:t>Three-Pillar Architectural Framework Implemented in the EventFlow Platform</a:t>
            </a:r>
          </a:p>
        </p:txBody>
      </p:sp>
      <p:sp>
        <p:nvSpPr>
          <p:cNvPr id="4" name="Rectangle 3"/>
          <p:cNvSpPr/>
          <p:nvPr/>
        </p:nvSpPr>
        <p:spPr>
          <a:xfrm>
            <a:off x="731520" y="169164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7315200" cy="274320"/>
          </a:xfrm>
          <a:prstGeom prst="rect">
            <a:avLst/>
          </a:prstGeom>
          <a:noFill/>
        </p:spPr>
        <p:txBody>
          <a:bodyPr wrap="square" lIns="0" tIns="0">
            <a:spAutoFit/>
          </a:bodyPr>
          <a:lstStyle/>
          <a:p>
            <a:pPr>
              <a:defRPr sz="900">
                <a:solidFill>
                  <a:srgbClr val="64748B"/>
                </a:solidFill>
                <a:latin typeface="Calibri"/>
              </a:defRPr>
            </a:pPr>
            <a:r>
              <a:t>CSA1021 - Software Engineering | Capstone Project 2026 | Saveetha School of Engineering (SIMATS)</a:t>
            </a:r>
          </a:p>
        </p:txBody>
      </p:sp>
      <p:sp>
        <p:nvSpPr>
          <p:cNvPr id="6" name="TextBox 5"/>
          <p:cNvSpPr txBox="1"/>
          <p:nvPr/>
        </p:nvSpPr>
        <p:spPr>
          <a:xfrm>
            <a:off x="9601200" y="6400800"/>
            <a:ext cx="1828800" cy="274320"/>
          </a:xfrm>
          <a:prstGeom prst="rect">
            <a:avLst/>
          </a:prstGeom>
          <a:noFill/>
        </p:spPr>
        <p:txBody>
          <a:bodyPr wrap="square" rIns="0" tIns="0">
            <a:spAutoFit/>
          </a:bodyPr>
          <a:lstStyle/>
          <a:p>
            <a:pPr algn="r">
              <a:defRPr sz="900">
                <a:solidFill>
                  <a:srgbClr val="64748B"/>
                </a:solidFill>
                <a:latin typeface="Calibri"/>
              </a:defRPr>
            </a:pPr>
            <a:r>
              <a:t>Slide 8 of 8</a:t>
            </a:r>
          </a:p>
        </p:txBody>
      </p:sp>
      <p:sp>
        <p:nvSpPr>
          <p:cNvPr id="7" name="Rounded Rectangle 6"/>
          <p:cNvSpPr/>
          <p:nvPr/>
        </p:nvSpPr>
        <p:spPr>
          <a:xfrm>
            <a:off x="731520" y="1874519"/>
            <a:ext cx="3410712" cy="4297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1000"/>
              </a:spcAft>
              <a:defRPr sz="1200" b="1">
                <a:solidFill>
                  <a:srgbClr val="1A365D"/>
                </a:solidFill>
                <a:latin typeface="Calibri"/>
              </a:defRPr>
            </a:pPr>
            <a:r>
              <a:t>Pillar 1: Formal Interval Modeling &amp; Half-Open Algebra</a:t>
            </a:r>
          </a:p>
          <a:p>
            <a:pPr>
              <a:lnSpc>
                <a:spcPct val="115000"/>
              </a:lnSpc>
              <a:spcAft>
                <a:spcPts val="800"/>
              </a:spcAft>
              <a:defRPr sz="950">
                <a:latin typeface="Calibri"/>
              </a:defRPr>
            </a:pPr>
            <a:r>
              <a:rPr b="1">
                <a:solidFill>
                  <a:srgbClr val="0F172A"/>
                </a:solidFill>
              </a:rPr>
              <a:t>Resource Mapping: </a:t>
            </a:r>
            <a:r>
              <a:rPr>
                <a:solidFill>
                  <a:srgbClr val="334155"/>
                </a:solidFill>
              </a:rPr>
              <a:t>Each venue V_k is formulated as an independent, continuous time resource timeline.</a:t>
            </a:r>
          </a:p>
          <a:p>
            <a:pPr>
              <a:lnSpc>
                <a:spcPct val="115000"/>
              </a:lnSpc>
              <a:spcAft>
                <a:spcPts val="800"/>
              </a:spcAft>
              <a:defRPr sz="950">
                <a:latin typeface="Calibri"/>
              </a:defRPr>
            </a:pPr>
            <a:r>
              <a:rPr b="1">
                <a:solidFill>
                  <a:srgbClr val="0F172A"/>
                </a:solidFill>
              </a:rPr>
              <a:t>Half-Open Interval: </a:t>
            </a:r>
            <a:r>
              <a:rPr>
                <a:solidFill>
                  <a:srgbClr val="334155"/>
                </a:solidFill>
              </a:rPr>
              <a:t>Every booking request is represented as I_i = [s_i, e_i), where s_i is start time and e_i is end time.</a:t>
            </a:r>
          </a:p>
          <a:p>
            <a:pPr>
              <a:lnSpc>
                <a:spcPct val="115000"/>
              </a:lnSpc>
              <a:spcAft>
                <a:spcPts val="800"/>
              </a:spcAft>
              <a:defRPr sz="950">
                <a:latin typeface="Calibri"/>
              </a:defRPr>
            </a:pPr>
            <a:r>
              <a:rPr b="1">
                <a:solidFill>
                  <a:srgbClr val="0F172A"/>
                </a:solidFill>
              </a:rPr>
              <a:t>Back-to-Back Feasibility: </a:t>
            </a:r>
            <a:r>
              <a:rPr>
                <a:solidFill>
                  <a:srgbClr val="334155"/>
                </a:solidFill>
              </a:rPr>
              <a:t>Half-open boundaries strictly allow contiguous scheduling ([10:00, 12:00) and [12:00, 14:00) do not collide since 12:00 &lt; 12:00 is False).</a:t>
            </a:r>
          </a:p>
          <a:p>
            <a:pPr>
              <a:lnSpc>
                <a:spcPct val="115000"/>
              </a:lnSpc>
              <a:spcAft>
                <a:spcPts val="800"/>
              </a:spcAft>
              <a:defRPr sz="950">
                <a:latin typeface="Calibri"/>
              </a:defRPr>
            </a:pPr>
            <a:r>
              <a:rPr b="1">
                <a:solidFill>
                  <a:srgbClr val="0F172A"/>
                </a:solidFill>
              </a:rPr>
              <a:t>Overlap Condition: </a:t>
            </a:r>
            <a:r>
              <a:rPr>
                <a:solidFill>
                  <a:srgbClr val="334155"/>
                </a:solidFill>
              </a:rPr>
              <a:t>Collision(I_new, I_ext) &lt;=&gt; (s_new &lt; e_ext) AND (e_new &gt; s_ext). Any non-zero intersection triggers immediate rejection.</a:t>
            </a:r>
          </a:p>
        </p:txBody>
      </p:sp>
      <p:sp>
        <p:nvSpPr>
          <p:cNvPr id="8" name="Rectangle 7"/>
          <p:cNvSpPr/>
          <p:nvPr/>
        </p:nvSpPr>
        <p:spPr>
          <a:xfrm>
            <a:off x="731520" y="1874519"/>
            <a:ext cx="3410712"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9120" y="1874519"/>
            <a:ext cx="3410712" cy="4297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1000"/>
              </a:spcAft>
              <a:defRPr sz="1200" b="1">
                <a:solidFill>
                  <a:srgbClr val="1A365D"/>
                </a:solidFill>
                <a:latin typeface="Calibri"/>
              </a:defRPr>
            </a:pPr>
            <a:r>
              <a:t>Pillar 2: Algorithmic Collision Detection &amp; Optimization</a:t>
            </a:r>
          </a:p>
          <a:p>
            <a:pPr>
              <a:lnSpc>
                <a:spcPct val="115000"/>
              </a:lnSpc>
              <a:spcAft>
                <a:spcPts val="800"/>
              </a:spcAft>
              <a:defRPr sz="950">
                <a:latin typeface="Calibri"/>
              </a:defRPr>
            </a:pPr>
            <a:r>
              <a:rPr b="1">
                <a:solidFill>
                  <a:srgbClr val="0F172A"/>
                </a:solidFill>
              </a:rPr>
              <a:t>Single Dynamic Request: </a:t>
            </a:r>
            <a:r>
              <a:rPr>
                <a:solidFill>
                  <a:srgbClr val="334155"/>
                </a:solidFill>
              </a:rPr>
              <a:t>Active confirmed bookings are kept sorted by start time s_i. Binary search (bisect) locates the insertion index in O(log N) time.</a:t>
            </a:r>
          </a:p>
          <a:p>
            <a:pPr>
              <a:lnSpc>
                <a:spcPct val="115000"/>
              </a:lnSpc>
              <a:spcAft>
                <a:spcPts val="800"/>
              </a:spcAft>
              <a:defRPr sz="950">
                <a:latin typeface="Calibri"/>
              </a:defRPr>
            </a:pPr>
            <a:r>
              <a:rPr b="1">
                <a:solidFill>
                  <a:srgbClr val="0F172A"/>
                </a:solidFill>
              </a:rPr>
              <a:t>Neighbor-Only Check: </a:t>
            </a:r>
            <a:r>
              <a:rPr>
                <a:solidFill>
                  <a:srgbClr val="334155"/>
                </a:solidFill>
              </a:rPr>
              <a:t>Collision is evaluated strictly against adjacent predecessor and successor intervals, eliminating O(N) linear scans.</a:t>
            </a:r>
          </a:p>
          <a:p>
            <a:pPr>
              <a:lnSpc>
                <a:spcPct val="115000"/>
              </a:lnSpc>
              <a:spcAft>
                <a:spcPts val="800"/>
              </a:spcAft>
              <a:defRPr sz="950">
                <a:latin typeface="Calibri"/>
              </a:defRPr>
            </a:pPr>
            <a:r>
              <a:rPr b="1">
                <a:solidFill>
                  <a:srgbClr val="0F172A"/>
                </a:solidFill>
              </a:rPr>
              <a:t>Batch Optimization (Greedy EFT): </a:t>
            </a:r>
            <a:r>
              <a:rPr>
                <a:solidFill>
                  <a:srgbClr val="334155"/>
                </a:solidFill>
              </a:rPr>
              <a:t>For competing reservation batches, intervals are sorted by Earliest Finish Time (e_1 &lt;= e_2 &lt;= ... &lt;= e_M).</a:t>
            </a:r>
          </a:p>
          <a:p>
            <a:pPr>
              <a:lnSpc>
                <a:spcPct val="115000"/>
              </a:lnSpc>
              <a:spcAft>
                <a:spcPts val="800"/>
              </a:spcAft>
              <a:defRPr sz="950">
                <a:latin typeface="Calibri"/>
              </a:defRPr>
            </a:pPr>
            <a:r>
              <a:rPr b="1">
                <a:solidFill>
                  <a:srgbClr val="0F172A"/>
                </a:solidFill>
              </a:rPr>
              <a:t>Provable Optimality: </a:t>
            </a:r>
            <a:r>
              <a:rPr>
                <a:solidFill>
                  <a:srgbClr val="334155"/>
                </a:solidFill>
              </a:rPr>
              <a:t>Greedily accepting non-overlapping requests guarantees maximum event throughput in O(M log M) time.</a:t>
            </a:r>
          </a:p>
        </p:txBody>
      </p:sp>
      <p:sp>
        <p:nvSpPr>
          <p:cNvPr id="10" name="Rectangle 9"/>
          <p:cNvSpPr/>
          <p:nvPr/>
        </p:nvSpPr>
        <p:spPr>
          <a:xfrm>
            <a:off x="4389120" y="1874519"/>
            <a:ext cx="3410712" cy="914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46720" y="1874519"/>
            <a:ext cx="3410712" cy="4297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1000"/>
              </a:spcAft>
              <a:defRPr sz="1200" b="1">
                <a:solidFill>
                  <a:srgbClr val="1A365D"/>
                </a:solidFill>
                <a:latin typeface="Calibri"/>
              </a:defRPr>
            </a:pPr>
            <a:r>
              <a:t>Pillar 3: Concurrency Engine &amp; Feedback in EventFlow</a:t>
            </a:r>
          </a:p>
          <a:p>
            <a:pPr>
              <a:lnSpc>
                <a:spcPct val="115000"/>
              </a:lnSpc>
              <a:spcAft>
                <a:spcPts val="800"/>
              </a:spcAft>
              <a:defRPr sz="950">
                <a:latin typeface="Calibri"/>
              </a:defRPr>
            </a:pPr>
            <a:r>
              <a:rPr b="1">
                <a:solidFill>
                  <a:srgbClr val="0F172A"/>
                </a:solidFill>
              </a:rPr>
              <a:t>ACID Transaction Locking: </a:t>
            </a:r>
            <a:r>
              <a:rPr>
                <a:solidFill>
                  <a:srgbClr val="334155"/>
                </a:solidFill>
              </a:rPr>
              <a:t>Integrated into FastAPI backend with SQLite WAL mode / Supabase PostgreSQL. Validation and write execute inside an atomic transaction.</a:t>
            </a:r>
          </a:p>
          <a:p>
            <a:pPr>
              <a:lnSpc>
                <a:spcPct val="115000"/>
              </a:lnSpc>
              <a:spcAft>
                <a:spcPts val="800"/>
              </a:spcAft>
              <a:defRPr sz="950">
                <a:latin typeface="Calibri"/>
              </a:defRPr>
            </a:pPr>
            <a:r>
              <a:rPr b="1">
                <a:solidFill>
                  <a:srgbClr val="0F172A"/>
                </a:solidFill>
              </a:rPr>
              <a:t>TOCTOU Elimination: </a:t>
            </a:r>
            <a:r>
              <a:rPr>
                <a:solidFill>
                  <a:srgbClr val="334155"/>
                </a:solidFill>
              </a:rPr>
              <a:t>Venue-level mutual exclusion lock serializes concurrent submissions, preventing race conditions from slipping through.</a:t>
            </a:r>
          </a:p>
          <a:p>
            <a:pPr>
              <a:lnSpc>
                <a:spcPct val="115000"/>
              </a:lnSpc>
              <a:spcAft>
                <a:spcPts val="800"/>
              </a:spcAft>
              <a:defRPr sz="950">
                <a:latin typeface="Calibri"/>
              </a:defRPr>
            </a:pPr>
            <a:r>
              <a:rPr b="1">
                <a:solidFill>
                  <a:srgbClr val="0F172A"/>
                </a:solidFill>
              </a:rPr>
              <a:t>Intelligent Feedback: </a:t>
            </a:r>
            <a:r>
              <a:rPr>
                <a:solidFill>
                  <a:srgbClr val="334155"/>
                </a:solidFill>
              </a:rPr>
              <a:t>When rejected, the engine analyzes schedule gaps to compute the nearest vacant slot in the requested venue.</a:t>
            </a:r>
          </a:p>
          <a:p>
            <a:pPr>
              <a:lnSpc>
                <a:spcPct val="115000"/>
              </a:lnSpc>
              <a:spcAft>
                <a:spcPts val="800"/>
              </a:spcAft>
              <a:defRPr sz="950">
                <a:latin typeface="Calibri"/>
              </a:defRPr>
            </a:pPr>
            <a:r>
              <a:rPr b="1">
                <a:solidFill>
                  <a:srgbClr val="0F172A"/>
                </a:solidFill>
              </a:rPr>
              <a:t>Alternative Venue Routing: </a:t>
            </a:r>
            <a:r>
              <a:rPr>
                <a:solidFill>
                  <a:srgbClr val="334155"/>
                </a:solidFill>
              </a:rPr>
              <a:t>Queries available campus venues with matching capacity, providing immediate alternatives to organizers.</a:t>
            </a:r>
          </a:p>
        </p:txBody>
      </p:sp>
      <p:sp>
        <p:nvSpPr>
          <p:cNvPr id="12" name="Rectangle 11"/>
          <p:cNvSpPr/>
          <p:nvPr/>
        </p:nvSpPr>
        <p:spPr>
          <a:xfrm>
            <a:off x="8046720" y="1874519"/>
            <a:ext cx="3410712" cy="91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